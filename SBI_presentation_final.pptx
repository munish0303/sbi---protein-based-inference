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9.svg" ContentType="image/svg+xml"/>
  <Override PartName="/ppt/media/image2.svg" ContentType="image/svg+xml"/>
  <Override PartName="/ppt/media/image24.svg" ContentType="image/svg+xml"/>
  <Override PartName="/ppt/media/image26.svg" ContentType="image/svg+xml"/>
  <Override PartName="/ppt/media/image3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9" r:id="rId24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Canva Sans Bold" charset="1" panose="020B0803030501040103"/>
      <p:regular r:id="rId21"/>
    </p:embeddedFont>
    <p:embeddedFont>
      <p:font typeface="Poppins Bold Italics" charset="1" panose="00000800000000000000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8.jpeg"/><Relationship Id="rId9" Type="http://schemas.openxmlformats.org/officeDocument/2006/relationships/image" Target="../media/image2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0.jpeg"/><Relationship Id="rId9" Type="http://schemas.openxmlformats.org/officeDocument/2006/relationships/image" Target="../media/image35.png"/><Relationship Id="rId10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0.jpeg"/><Relationship Id="rId9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31.jpeg"/><Relationship Id="rId11" Type="http://schemas.openxmlformats.org/officeDocument/2006/relationships/image" Target="../media/image32.jpeg"/><Relationship Id="rId12" Type="http://schemas.openxmlformats.org/officeDocument/2006/relationships/image" Target="../media/image3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1.png"/><Relationship Id="rId9" Type="http://schemas.openxmlformats.org/officeDocument/2006/relationships/image" Target="../media/image33.png"/><Relationship Id="rId10" Type="http://schemas.openxmlformats.org/officeDocument/2006/relationships/image" Target="../media/image34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69545" y="1980158"/>
            <a:ext cx="4381228" cy="6326683"/>
          </a:xfrm>
          <a:custGeom>
            <a:avLst/>
            <a:gdLst/>
            <a:ahLst/>
            <a:cxnLst/>
            <a:rect r="r" b="b" t="t" l="l"/>
            <a:pathLst>
              <a:path h="6326683" w="4381228">
                <a:moveTo>
                  <a:pt x="0" y="0"/>
                </a:moveTo>
                <a:lnTo>
                  <a:pt x="4381229" y="0"/>
                </a:lnTo>
                <a:lnTo>
                  <a:pt x="4381229" y="6326684"/>
                </a:lnTo>
                <a:lnTo>
                  <a:pt x="0" y="6326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028700" y="3162088"/>
            <a:ext cx="12067080" cy="335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Infer</a:t>
            </a:r>
            <a:r>
              <a:rPr lang="en-US" sz="6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ence of protein secondary structure motifs</a:t>
            </a:r>
          </a:p>
          <a:p>
            <a:pPr algn="l">
              <a:lnSpc>
                <a:spcPts val="9486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738461"/>
            <a:ext cx="8649151" cy="973029"/>
          </a:xfrm>
          <a:custGeom>
            <a:avLst/>
            <a:gdLst/>
            <a:ahLst/>
            <a:cxnLst/>
            <a:rect r="r" b="b" t="t" l="l"/>
            <a:pathLst>
              <a:path h="973029" w="8649151">
                <a:moveTo>
                  <a:pt x="0" y="0"/>
                </a:moveTo>
                <a:lnTo>
                  <a:pt x="8649151" y="0"/>
                </a:lnTo>
                <a:lnTo>
                  <a:pt x="8649151" y="973029"/>
                </a:lnTo>
                <a:lnTo>
                  <a:pt x="0" y="973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38100" y="7785054"/>
            <a:ext cx="2385016" cy="2530521"/>
          </a:xfrm>
          <a:custGeom>
            <a:avLst/>
            <a:gdLst/>
            <a:ahLst/>
            <a:cxnLst/>
            <a:rect r="r" b="b" t="t" l="l"/>
            <a:pathLst>
              <a:path h="2530521" w="2385016">
                <a:moveTo>
                  <a:pt x="0" y="0"/>
                </a:moveTo>
                <a:lnTo>
                  <a:pt x="2385016" y="0"/>
                </a:lnTo>
                <a:lnTo>
                  <a:pt x="2385016" y="2530521"/>
                </a:lnTo>
                <a:lnTo>
                  <a:pt x="0" y="2530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true" rot="0">
            <a:off x="15941084" y="-38100"/>
            <a:ext cx="2385016" cy="2530521"/>
          </a:xfrm>
          <a:custGeom>
            <a:avLst/>
            <a:gdLst/>
            <a:ahLst/>
            <a:cxnLst/>
            <a:rect r="r" b="b" t="t" l="l"/>
            <a:pathLst>
              <a:path h="2530521" w="2385016">
                <a:moveTo>
                  <a:pt x="2385016" y="2530521"/>
                </a:moveTo>
                <a:lnTo>
                  <a:pt x="0" y="2530521"/>
                </a:lnTo>
                <a:lnTo>
                  <a:pt x="0" y="0"/>
                </a:lnTo>
                <a:lnTo>
                  <a:pt x="2385016" y="0"/>
                </a:lnTo>
                <a:lnTo>
                  <a:pt x="2385016" y="253052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1988209">
            <a:off x="16505643" y="8567299"/>
            <a:ext cx="2290262" cy="2746941"/>
          </a:xfrm>
          <a:custGeom>
            <a:avLst/>
            <a:gdLst/>
            <a:ahLst/>
            <a:cxnLst/>
            <a:rect r="r" b="b" t="t" l="l"/>
            <a:pathLst>
              <a:path h="2746941" w="2290262">
                <a:moveTo>
                  <a:pt x="0" y="0"/>
                </a:moveTo>
                <a:lnTo>
                  <a:pt x="2290262" y="0"/>
                </a:lnTo>
                <a:lnTo>
                  <a:pt x="2290262" y="2746941"/>
                </a:lnTo>
                <a:lnTo>
                  <a:pt x="0" y="2746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1988209">
            <a:off x="5993904" y="-1169386"/>
            <a:ext cx="2290262" cy="2746941"/>
          </a:xfrm>
          <a:custGeom>
            <a:avLst/>
            <a:gdLst/>
            <a:ahLst/>
            <a:cxnLst/>
            <a:rect r="r" b="b" t="t" l="l"/>
            <a:pathLst>
              <a:path h="2746941" w="2290262">
                <a:moveTo>
                  <a:pt x="0" y="0"/>
                </a:moveTo>
                <a:lnTo>
                  <a:pt x="2290262" y="0"/>
                </a:lnTo>
                <a:lnTo>
                  <a:pt x="2290262" y="2746940"/>
                </a:lnTo>
                <a:lnTo>
                  <a:pt x="0" y="27469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7808213" y="8998656"/>
            <a:ext cx="1335787" cy="519287"/>
          </a:xfrm>
          <a:custGeom>
            <a:avLst/>
            <a:gdLst/>
            <a:ahLst/>
            <a:cxnLst/>
            <a:rect r="r" b="b" t="t" l="l"/>
            <a:pathLst>
              <a:path h="519287" w="1335787">
                <a:moveTo>
                  <a:pt x="0" y="0"/>
                </a:moveTo>
                <a:lnTo>
                  <a:pt x="1335787" y="0"/>
                </a:lnTo>
                <a:lnTo>
                  <a:pt x="1335787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383155" y="5888749"/>
            <a:ext cx="1009238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6"/>
              </a:lnSpc>
            </a:pPr>
            <a:r>
              <a:rPr lang="en-US" sz="332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Predicting α-helix secondary structure</a:t>
            </a:r>
          </a:p>
          <a:p>
            <a:pPr algn="ctr">
              <a:lnSpc>
                <a:spcPts val="398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677851" y="624166"/>
            <a:ext cx="1373563" cy="533972"/>
          </a:xfrm>
          <a:custGeom>
            <a:avLst/>
            <a:gdLst/>
            <a:ahLst/>
            <a:cxnLst/>
            <a:rect r="r" b="b" t="t" l="l"/>
            <a:pathLst>
              <a:path h="533972" w="1373563">
                <a:moveTo>
                  <a:pt x="0" y="0"/>
                </a:moveTo>
                <a:lnTo>
                  <a:pt x="1373562" y="0"/>
                </a:lnTo>
                <a:lnTo>
                  <a:pt x="1373562" y="533973"/>
                </a:lnTo>
                <a:lnTo>
                  <a:pt x="0" y="5339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1028700" y="6860891"/>
            <a:ext cx="10933058" cy="113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</a:p>
          <a:p>
            <a:pPr algn="l">
              <a:lnSpc>
                <a:spcPts val="2972"/>
              </a:lnSpc>
            </a:pPr>
            <a:r>
              <a:rPr lang="en-US" sz="24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Group 10 · Alsu Alimzanova, Nazrin Azizova, Munish Patwa, Rohit Stanly </a:t>
            </a:r>
          </a:p>
          <a:p>
            <a:pPr algn="l">
              <a:lnSpc>
                <a:spcPts val="29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7263" y="3132672"/>
            <a:ext cx="347327" cy="506123"/>
          </a:xfrm>
          <a:custGeom>
            <a:avLst/>
            <a:gdLst/>
            <a:ahLst/>
            <a:cxnLst/>
            <a:rect r="r" b="b" t="t" l="l"/>
            <a:pathLst>
              <a:path h="506123" w="347327">
                <a:moveTo>
                  <a:pt x="0" y="0"/>
                </a:moveTo>
                <a:lnTo>
                  <a:pt x="347327" y="0"/>
                </a:lnTo>
                <a:lnTo>
                  <a:pt x="347327" y="506123"/>
                </a:lnTo>
                <a:lnTo>
                  <a:pt x="0" y="506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427499" y="1563661"/>
            <a:ext cx="12544401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are we trying to predict?</a:t>
            </a:r>
          </a:p>
          <a:p>
            <a:pPr algn="l">
              <a:lnSpc>
                <a:spcPts val="912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3823123">
            <a:off x="10122577" y="-1969851"/>
            <a:ext cx="3542720" cy="4249139"/>
          </a:xfrm>
          <a:custGeom>
            <a:avLst/>
            <a:gdLst/>
            <a:ahLst/>
            <a:cxnLst/>
            <a:rect r="r" b="b" t="t" l="l"/>
            <a:pathLst>
              <a:path h="4249139" w="3542720">
                <a:moveTo>
                  <a:pt x="0" y="0"/>
                </a:moveTo>
                <a:lnTo>
                  <a:pt x="3542720" y="0"/>
                </a:lnTo>
                <a:lnTo>
                  <a:pt x="3542720" y="4249139"/>
                </a:lnTo>
                <a:lnTo>
                  <a:pt x="0" y="4249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-10800000">
            <a:off x="-96092" y="8181669"/>
            <a:ext cx="2385016" cy="2530521"/>
          </a:xfrm>
          <a:custGeom>
            <a:avLst/>
            <a:gdLst/>
            <a:ahLst/>
            <a:cxnLst/>
            <a:rect r="r" b="b" t="t" l="l"/>
            <a:pathLst>
              <a:path h="2530521" w="2385016">
                <a:moveTo>
                  <a:pt x="2385016" y="2530521"/>
                </a:moveTo>
                <a:lnTo>
                  <a:pt x="0" y="2530521"/>
                </a:lnTo>
                <a:lnTo>
                  <a:pt x="0" y="0"/>
                </a:lnTo>
                <a:lnTo>
                  <a:pt x="2385016" y="0"/>
                </a:lnTo>
                <a:lnTo>
                  <a:pt x="2385016" y="253052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5885737" y="966187"/>
            <a:ext cx="1373563" cy="533972"/>
          </a:xfrm>
          <a:custGeom>
            <a:avLst/>
            <a:gdLst/>
            <a:ahLst/>
            <a:cxnLst/>
            <a:rect r="r" b="b" t="t" l="l"/>
            <a:pathLst>
              <a:path h="533972" w="1373563">
                <a:moveTo>
                  <a:pt x="0" y="0"/>
                </a:moveTo>
                <a:lnTo>
                  <a:pt x="1373563" y="0"/>
                </a:lnTo>
                <a:lnTo>
                  <a:pt x="1373563" y="533973"/>
                </a:lnTo>
                <a:lnTo>
                  <a:pt x="0" y="5339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3823123">
            <a:off x="5341550" y="8586069"/>
            <a:ext cx="3542720" cy="4249139"/>
          </a:xfrm>
          <a:custGeom>
            <a:avLst/>
            <a:gdLst/>
            <a:ahLst/>
            <a:cxnLst/>
            <a:rect r="r" b="b" t="t" l="l"/>
            <a:pathLst>
              <a:path h="4249139" w="3542720">
                <a:moveTo>
                  <a:pt x="0" y="0"/>
                </a:moveTo>
                <a:lnTo>
                  <a:pt x="3542719" y="0"/>
                </a:lnTo>
                <a:lnTo>
                  <a:pt x="3542719" y="4249139"/>
                </a:lnTo>
                <a:lnTo>
                  <a:pt x="0" y="4249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2288924" y="3176847"/>
            <a:ext cx="6504057" cy="463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protein consists of a sequence of amino acids from the 20 standard types (A, L, G, E, K, …).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Each amino acid represents either an alpha-helix or other structures. The goal is to calculate the probability of a helix, P(helix), for each position of the amino acids. This process does not involve predicting the amino acid letters; instead, the letters serve as the input.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5602" y="3338831"/>
            <a:ext cx="5633824" cy="10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Input: amino-acid sequence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L G E K M V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628046" y="4345305"/>
            <a:ext cx="5441379" cy="1073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 probability of helix at each position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0.05 0.14 0.72 0.83 0.20 ...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592972" y="5370830"/>
            <a:ext cx="3319085" cy="126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9"/>
              </a:lnSpc>
            </a:pPr>
            <a:r>
              <a:rPr lang="en-US" sz="17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Given the protein letters, we estimate which parts are likely to be α-helices.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88209">
            <a:off x="15174869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762567" y="9005598"/>
            <a:ext cx="1300073" cy="505403"/>
          </a:xfrm>
          <a:custGeom>
            <a:avLst/>
            <a:gdLst/>
            <a:ahLst/>
            <a:cxnLst/>
            <a:rect r="r" b="b" t="t" l="l"/>
            <a:pathLst>
              <a:path h="505403" w="1300073">
                <a:moveTo>
                  <a:pt x="0" y="0"/>
                </a:moveTo>
                <a:lnTo>
                  <a:pt x="1300073" y="0"/>
                </a:lnTo>
                <a:lnTo>
                  <a:pt x="1300073" y="505404"/>
                </a:lnTo>
                <a:lnTo>
                  <a:pt x="0" y="50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905648" y="2864951"/>
            <a:ext cx="1614778" cy="534895"/>
          </a:xfrm>
          <a:custGeom>
            <a:avLst/>
            <a:gdLst/>
            <a:ahLst/>
            <a:cxnLst/>
            <a:rect r="r" b="b" t="t" l="l"/>
            <a:pathLst>
              <a:path h="534895" w="1614778">
                <a:moveTo>
                  <a:pt x="0" y="0"/>
                </a:moveTo>
                <a:lnTo>
                  <a:pt x="1614778" y="0"/>
                </a:lnTo>
                <a:lnTo>
                  <a:pt x="1614778" y="534895"/>
                </a:lnTo>
                <a:lnTo>
                  <a:pt x="0" y="5348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1988209">
            <a:off x="-1759719" y="2169703"/>
            <a:ext cx="2666150" cy="3197781"/>
          </a:xfrm>
          <a:custGeom>
            <a:avLst/>
            <a:gdLst/>
            <a:ahLst/>
            <a:cxnLst/>
            <a:rect r="r" b="b" t="t" l="l"/>
            <a:pathLst>
              <a:path h="3197781" w="2666150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8159149" y="2912054"/>
            <a:ext cx="9100151" cy="5316575"/>
          </a:xfrm>
          <a:custGeom>
            <a:avLst/>
            <a:gdLst/>
            <a:ahLst/>
            <a:cxnLst/>
            <a:rect r="r" b="b" t="t" l="l"/>
            <a:pathLst>
              <a:path h="5316575" w="9100151">
                <a:moveTo>
                  <a:pt x="0" y="0"/>
                </a:moveTo>
                <a:lnTo>
                  <a:pt x="9100151" y="0"/>
                </a:lnTo>
                <a:lnTo>
                  <a:pt x="9100151" y="5316575"/>
                </a:lnTo>
                <a:lnTo>
                  <a:pt x="0" y="5316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2058779" y="414523"/>
            <a:ext cx="14170442" cy="335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two-</a:t>
            </a: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state HMM: how hidden structure changes</a:t>
            </a:r>
          </a:p>
          <a:p>
            <a:pPr algn="ctr">
              <a:lnSpc>
                <a:spcPts val="10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905648" y="3388563"/>
            <a:ext cx="5847410" cy="397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hidden states: alpha-helix and other.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Every simulated chain starts in other.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elices appear as continuous segments, not isolated random points.</a:t>
            </a:r>
          </a:p>
          <a:p>
            <a:pPr algn="l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05648" y="2835854"/>
            <a:ext cx="1634943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Setup: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88209">
            <a:off x="15917431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-1759719" y="2169703"/>
            <a:ext cx="2666150" cy="3197781"/>
          </a:xfrm>
          <a:custGeom>
            <a:avLst/>
            <a:gdLst/>
            <a:ahLst/>
            <a:cxnLst/>
            <a:rect r="r" b="b" t="t" l="l"/>
            <a:pathLst>
              <a:path h="3197781" w="2666150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3158095" y="1701022"/>
            <a:ext cx="11971809" cy="5259925"/>
          </a:xfrm>
          <a:custGeom>
            <a:avLst/>
            <a:gdLst/>
            <a:ahLst/>
            <a:cxnLst/>
            <a:rect r="r" b="b" t="t" l="l"/>
            <a:pathLst>
              <a:path h="5259925" w="11971809">
                <a:moveTo>
                  <a:pt x="0" y="0"/>
                </a:moveTo>
                <a:lnTo>
                  <a:pt x="11971810" y="0"/>
                </a:lnTo>
                <a:lnTo>
                  <a:pt x="11971810" y="5259925"/>
                </a:lnTo>
                <a:lnTo>
                  <a:pt x="0" y="5259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410673" y="377656"/>
            <a:ext cx="15466655" cy="236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hidden states produce amino acids?</a:t>
            </a:r>
          </a:p>
          <a:p>
            <a:pPr algn="ctr">
              <a:lnSpc>
                <a:spcPts val="10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33078" y="7293890"/>
            <a:ext cx="16821843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Yellow bars: P(amino acid | alpha-helix). Grey bars: P(amino acid | other).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and L are more common in helix while G and P are more common in other.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can still appear in other, and G can still appear in helix.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Forward–Backward uses these probabilities together with the transition rules.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88209">
            <a:off x="15917431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-1759719" y="2169703"/>
            <a:ext cx="2666150" cy="3197781"/>
          </a:xfrm>
          <a:custGeom>
            <a:avLst/>
            <a:gdLst/>
            <a:ahLst/>
            <a:cxnLst/>
            <a:rect r="r" b="b" t="t" l="l"/>
            <a:pathLst>
              <a:path h="3197781" w="2666150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6419401" y="2754777"/>
            <a:ext cx="4866228" cy="781996"/>
            <a:chOff x="0" y="0"/>
            <a:chExt cx="1281640" cy="2059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640" cy="205958"/>
            </a:xfrm>
            <a:custGeom>
              <a:avLst/>
              <a:gdLst/>
              <a:ahLst/>
              <a:cxnLst/>
              <a:rect r="r" b="b" t="t" l="l"/>
              <a:pathLst>
                <a:path h="205958" w="1281640">
                  <a:moveTo>
                    <a:pt x="0" y="0"/>
                  </a:moveTo>
                  <a:lnTo>
                    <a:pt x="1281640" y="0"/>
                  </a:lnTo>
                  <a:lnTo>
                    <a:pt x="1281640" y="205958"/>
                  </a:lnTo>
                  <a:lnTo>
                    <a:pt x="0" y="205958"/>
                  </a:lnTo>
                  <a:close/>
                </a:path>
              </a:pathLst>
            </a:custGeom>
            <a:solidFill>
              <a:srgbClr val="E8C992"/>
            </a:soli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81640" cy="244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1. Simulator makes fake protein chains with known hidden states.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72251" y="172173"/>
            <a:ext cx="14943498" cy="288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74"/>
              </a:lnSpc>
            </a:pPr>
            <a:r>
              <a:rPr lang="en-US" sz="541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Where Simulation-Based Inference appears?</a:t>
            </a:r>
          </a:p>
          <a:p>
            <a:pPr algn="ctr">
              <a:lnSpc>
                <a:spcPts val="7574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419401" y="4089161"/>
            <a:ext cx="4866228" cy="661531"/>
            <a:chOff x="0" y="0"/>
            <a:chExt cx="1281640" cy="1742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640" cy="174230"/>
            </a:xfrm>
            <a:custGeom>
              <a:avLst/>
              <a:gdLst/>
              <a:ahLst/>
              <a:cxnLst/>
              <a:rect r="r" b="b" t="t" l="l"/>
              <a:pathLst>
                <a:path h="174230" w="1281640">
                  <a:moveTo>
                    <a:pt x="0" y="0"/>
                  </a:moveTo>
                  <a:lnTo>
                    <a:pt x="1281640" y="0"/>
                  </a:lnTo>
                  <a:lnTo>
                    <a:pt x="1281640" y="174230"/>
                  </a:lnTo>
                  <a:lnTo>
                    <a:pt x="0" y="174230"/>
                  </a:lnTo>
                  <a:close/>
                </a:path>
              </a:pathLst>
            </a:custGeom>
            <a:solidFill>
              <a:srgbClr val="FFDB8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81640" cy="202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2. Forward–Backward computes exact HMM posterior probabilities: P(helix | sequence).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19401" y="5303142"/>
            <a:ext cx="4866228" cy="661531"/>
            <a:chOff x="0" y="0"/>
            <a:chExt cx="1281640" cy="1742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640" cy="174230"/>
            </a:xfrm>
            <a:custGeom>
              <a:avLst/>
              <a:gdLst/>
              <a:ahLst/>
              <a:cxnLst/>
              <a:rect r="r" b="b" t="t" l="l"/>
              <a:pathLst>
                <a:path h="174230" w="1281640">
                  <a:moveTo>
                    <a:pt x="0" y="0"/>
                  </a:moveTo>
                  <a:lnTo>
                    <a:pt x="1281640" y="0"/>
                  </a:lnTo>
                  <a:lnTo>
                    <a:pt x="1281640" y="174230"/>
                  </a:lnTo>
                  <a:lnTo>
                    <a:pt x="0" y="174230"/>
                  </a:lnTo>
                  <a:close/>
                </a:path>
              </a:pathLst>
            </a:custGeom>
            <a:solidFill>
              <a:srgbClr val="FFAE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81640" cy="202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3. BayesFlow studies many pairs: sequence window → posterior probability.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19401" y="6517123"/>
            <a:ext cx="4866228" cy="786022"/>
            <a:chOff x="0" y="0"/>
            <a:chExt cx="1281640" cy="2070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640" cy="207018"/>
            </a:xfrm>
            <a:custGeom>
              <a:avLst/>
              <a:gdLst/>
              <a:ahLst/>
              <a:cxnLst/>
              <a:rect r="r" b="b" t="t" l="l"/>
              <a:pathLst>
                <a:path h="207018" w="1281640">
                  <a:moveTo>
                    <a:pt x="0" y="0"/>
                  </a:moveTo>
                  <a:lnTo>
                    <a:pt x="1281640" y="0"/>
                  </a:lnTo>
                  <a:lnTo>
                    <a:pt x="1281640" y="207018"/>
                  </a:lnTo>
                  <a:lnTo>
                    <a:pt x="0" y="207018"/>
                  </a:lnTo>
                  <a:close/>
                </a:path>
              </a:pathLst>
            </a:custGeom>
            <a:solidFill>
              <a:srgbClr val="E8C992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81640" cy="23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4. After training, test performed on human insulin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19401" y="7855595"/>
            <a:ext cx="4866228" cy="937756"/>
            <a:chOff x="0" y="0"/>
            <a:chExt cx="1281640" cy="2469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1640" cy="246981"/>
            </a:xfrm>
            <a:custGeom>
              <a:avLst/>
              <a:gdLst/>
              <a:ahLst/>
              <a:cxnLst/>
              <a:rect r="r" b="b" t="t" l="l"/>
              <a:pathLst>
                <a:path h="246981" w="1281640">
                  <a:moveTo>
                    <a:pt x="0" y="0"/>
                  </a:moveTo>
                  <a:lnTo>
                    <a:pt x="1281640" y="0"/>
                  </a:lnTo>
                  <a:lnTo>
                    <a:pt x="1281640" y="246981"/>
                  </a:lnTo>
                  <a:lnTo>
                    <a:pt x="0" y="246981"/>
                  </a:lnTo>
                  <a:close/>
                </a:path>
              </a:pathLst>
            </a:custGeom>
            <a:solidFill>
              <a:srgbClr val="FFDB80"/>
            </a:solid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281640" cy="275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5. Evaluation compares BayesFlow, Forward–Backward, and known ground truth.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>
            <a:off x="11285629" y="3054166"/>
            <a:ext cx="833096" cy="1365760"/>
          </a:xfrm>
          <a:custGeom>
            <a:avLst/>
            <a:gdLst/>
            <a:ahLst/>
            <a:cxnLst/>
            <a:rect r="r" b="b" t="t" l="l"/>
            <a:pathLst>
              <a:path h="1365760" w="833096">
                <a:moveTo>
                  <a:pt x="43668" y="0"/>
                </a:moveTo>
                <a:quadBezTo>
                  <a:pt x="1644065" y="734749"/>
                  <a:pt x="0" y="1365761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>
            <a:off x="5395428" y="4533989"/>
            <a:ext cx="1000313" cy="1008229"/>
          </a:xfrm>
          <a:custGeom>
            <a:avLst/>
            <a:gdLst/>
            <a:ahLst/>
            <a:cxnLst/>
            <a:rect r="r" b="b" t="t" l="l"/>
            <a:pathLst>
              <a:path h="1008229" w="1000313">
                <a:moveTo>
                  <a:pt x="1000313" y="0"/>
                </a:moveTo>
                <a:quadBezTo>
                  <a:pt x="-973797" y="544189"/>
                  <a:pt x="947983" y="1008229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>
            <a:off x="11292970" y="5651638"/>
            <a:ext cx="818472" cy="1315306"/>
          </a:xfrm>
          <a:custGeom>
            <a:avLst/>
            <a:gdLst/>
            <a:ahLst/>
            <a:cxnLst/>
            <a:rect r="r" b="b" t="t" l="l"/>
            <a:pathLst>
              <a:path h="1315306" w="818472">
                <a:moveTo>
                  <a:pt x="13945" y="0"/>
                </a:moveTo>
                <a:quadBezTo>
                  <a:pt x="1629942" y="674860"/>
                  <a:pt x="0" y="1315306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>
            <a:off x="5355333" y="6910134"/>
            <a:ext cx="1064067" cy="1414995"/>
          </a:xfrm>
          <a:custGeom>
            <a:avLst/>
            <a:gdLst/>
            <a:ahLst/>
            <a:cxnLst/>
            <a:rect r="r" b="b" t="t" l="l"/>
            <a:pathLst>
              <a:path h="1414995" w="1064067">
                <a:moveTo>
                  <a:pt x="1064068" y="0"/>
                </a:moveTo>
                <a:quadBezTo>
                  <a:pt x="-1064067" y="1445455"/>
                  <a:pt x="1064068" y="1414339"/>
                </a:quadBez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12330742" y="7965311"/>
            <a:ext cx="5458815" cy="159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SBI idea: when real labeled data are limited or inference is costly, use a simulator to generate training examples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88209">
            <a:off x="15917431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-1759719" y="2169703"/>
            <a:ext cx="2666150" cy="3197781"/>
          </a:xfrm>
          <a:custGeom>
            <a:avLst/>
            <a:gdLst/>
            <a:ahLst/>
            <a:cxnLst/>
            <a:rect r="r" b="b" t="t" l="l"/>
            <a:pathLst>
              <a:path h="3197781" w="2666150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" id="4"/>
          <p:cNvSpPr txBox="true"/>
          <p:nvPr/>
        </p:nvSpPr>
        <p:spPr>
          <a:xfrm rot="0">
            <a:off x="437457" y="1474944"/>
            <a:ext cx="16821843" cy="496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How it works?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provide </a:t>
            </a:r>
            <a:r>
              <a:rPr lang="en-US" sz="2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input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 one amino-acid sequence from the simulator.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expect </a:t>
            </a:r>
            <a:r>
              <a:rPr lang="en-US" sz="2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one probability per position: P(helix at position i | whole sequence).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These probabilities are called gamma/posteriors in the HMM.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are exact for the fixed HMM, BayesFlow is trained to reproduce them.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Important: exact for the HMM does not mean perfect biological truth.</a:t>
            </a:r>
          </a:p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6150489"/>
            <a:ext cx="4583730" cy="1304548"/>
            <a:chOff x="0" y="0"/>
            <a:chExt cx="1207238" cy="343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7238" cy="343585"/>
            </a:xfrm>
            <a:custGeom>
              <a:avLst/>
              <a:gdLst/>
              <a:ahLst/>
              <a:cxnLst/>
              <a:rect r="r" b="b" t="t" l="l"/>
              <a:pathLst>
                <a:path h="343585" w="1207238">
                  <a:moveTo>
                    <a:pt x="0" y="0"/>
                  </a:moveTo>
                  <a:lnTo>
                    <a:pt x="1207238" y="0"/>
                  </a:lnTo>
                  <a:lnTo>
                    <a:pt x="1207238" y="343585"/>
                  </a:lnTo>
                  <a:lnTo>
                    <a:pt x="0" y="343585"/>
                  </a:lnTo>
                  <a:close/>
                </a:path>
              </a:pathLst>
            </a:custGeom>
            <a:solidFill>
              <a:srgbClr val="E8C992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207238" cy="372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Example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Sequence: A L G E K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FB output: 0.03 0.28 0.65 0.82 0.20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10886" y="6112844"/>
            <a:ext cx="4866228" cy="1304548"/>
            <a:chOff x="0" y="0"/>
            <a:chExt cx="1281640" cy="3435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640" cy="343585"/>
            </a:xfrm>
            <a:custGeom>
              <a:avLst/>
              <a:gdLst/>
              <a:ahLst/>
              <a:cxnLst/>
              <a:rect r="r" b="b" t="t" l="l"/>
              <a:pathLst>
                <a:path h="343585" w="1281640">
                  <a:moveTo>
                    <a:pt x="0" y="0"/>
                  </a:moveTo>
                  <a:lnTo>
                    <a:pt x="1281640" y="0"/>
                  </a:lnTo>
                  <a:lnTo>
                    <a:pt x="1281640" y="343585"/>
                  </a:lnTo>
                  <a:lnTo>
                    <a:pt x="0" y="343585"/>
                  </a:lnTo>
                  <a:close/>
                </a:path>
              </a:pathLst>
            </a:custGeom>
            <a:solidFill>
              <a:srgbClr val="FFDB8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81640" cy="372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Forward-Backward is a teacher</a:t>
              </a:r>
            </a:p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BayesFlow is a student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72489" y="6112844"/>
            <a:ext cx="4866228" cy="1266903"/>
            <a:chOff x="0" y="0"/>
            <a:chExt cx="1281640" cy="333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640" cy="333670"/>
            </a:xfrm>
            <a:custGeom>
              <a:avLst/>
              <a:gdLst/>
              <a:ahLst/>
              <a:cxnLst/>
              <a:rect r="r" b="b" t="t" l="l"/>
              <a:pathLst>
                <a:path h="333670" w="1281640">
                  <a:moveTo>
                    <a:pt x="0" y="0"/>
                  </a:moveTo>
                  <a:lnTo>
                    <a:pt x="1281640" y="0"/>
                  </a:lnTo>
                  <a:lnTo>
                    <a:pt x="1281640" y="333670"/>
                  </a:lnTo>
                  <a:lnTo>
                    <a:pt x="0" y="333670"/>
                  </a:lnTo>
                  <a:close/>
                </a:path>
              </a:pathLst>
            </a:custGeom>
            <a:solidFill>
              <a:srgbClr val="FFAE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81640" cy="36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On simulated data, FB reached AUC ≈ 0.798 vs true hidden states — this is the HMM ceiling because emissions overlap.</a:t>
              </a:r>
            </a:p>
            <a:p>
              <a:pPr algn="ctr">
                <a:lnSpc>
                  <a:spcPts val="22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612430" y="6572291"/>
            <a:ext cx="1132549" cy="385654"/>
            <a:chOff x="0" y="0"/>
            <a:chExt cx="1381354" cy="4703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81354" cy="470376"/>
            </a:xfrm>
            <a:custGeom>
              <a:avLst/>
              <a:gdLst/>
              <a:ahLst/>
              <a:cxnLst/>
              <a:rect r="r" b="b" t="t" l="l"/>
              <a:pathLst>
                <a:path h="470376" w="1381354">
                  <a:moveTo>
                    <a:pt x="1381354" y="235188"/>
                  </a:moveTo>
                  <a:lnTo>
                    <a:pt x="974954" y="0"/>
                  </a:lnTo>
                  <a:lnTo>
                    <a:pt x="974954" y="203200"/>
                  </a:lnTo>
                  <a:lnTo>
                    <a:pt x="0" y="203200"/>
                  </a:lnTo>
                  <a:lnTo>
                    <a:pt x="0" y="267176"/>
                  </a:lnTo>
                  <a:lnTo>
                    <a:pt x="974954" y="267176"/>
                  </a:lnTo>
                  <a:lnTo>
                    <a:pt x="974954" y="470376"/>
                  </a:lnTo>
                  <a:lnTo>
                    <a:pt x="1381354" y="235188"/>
                  </a:lnTo>
                  <a:close/>
                </a:path>
              </a:pathLst>
            </a:custGeom>
            <a:solidFill>
              <a:srgbClr val="F99D3A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146050"/>
              <a:ext cx="1279754" cy="121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10673" y="377656"/>
            <a:ext cx="15466655" cy="1010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Forward-Backward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577114" y="6553468"/>
            <a:ext cx="1132549" cy="385654"/>
            <a:chOff x="0" y="0"/>
            <a:chExt cx="1381354" cy="4703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1354" cy="470376"/>
            </a:xfrm>
            <a:custGeom>
              <a:avLst/>
              <a:gdLst/>
              <a:ahLst/>
              <a:cxnLst/>
              <a:rect r="r" b="b" t="t" l="l"/>
              <a:pathLst>
                <a:path h="470376" w="1381354">
                  <a:moveTo>
                    <a:pt x="1381354" y="235188"/>
                  </a:moveTo>
                  <a:lnTo>
                    <a:pt x="974954" y="0"/>
                  </a:lnTo>
                  <a:lnTo>
                    <a:pt x="974954" y="203200"/>
                  </a:lnTo>
                  <a:lnTo>
                    <a:pt x="0" y="203200"/>
                  </a:lnTo>
                  <a:lnTo>
                    <a:pt x="0" y="267176"/>
                  </a:lnTo>
                  <a:lnTo>
                    <a:pt x="974954" y="267176"/>
                  </a:lnTo>
                  <a:lnTo>
                    <a:pt x="974954" y="470376"/>
                  </a:lnTo>
                  <a:lnTo>
                    <a:pt x="1381354" y="235188"/>
                  </a:lnTo>
                  <a:close/>
                </a:path>
              </a:pathLst>
            </a:custGeom>
            <a:solidFill>
              <a:srgbClr val="F99D3A"/>
            </a:solid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1279754" cy="121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0" y="8617481"/>
            <a:ext cx="17789557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simulated data, exact FB achieves AUC ~ 0.798 vs true hidden states. This is the HMM ceiling because helix/other emission tables overlap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88209">
            <a:off x="15917431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2" y="0"/>
                </a:lnTo>
                <a:lnTo>
                  <a:pt x="3744252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-1759719" y="2169703"/>
            <a:ext cx="2666150" cy="3197781"/>
          </a:xfrm>
          <a:custGeom>
            <a:avLst/>
            <a:gdLst/>
            <a:ahLst/>
            <a:cxnLst/>
            <a:rect r="r" b="b" t="t" l="l"/>
            <a:pathLst>
              <a:path h="3197781" w="2666150">
                <a:moveTo>
                  <a:pt x="0" y="0"/>
                </a:moveTo>
                <a:lnTo>
                  <a:pt x="2666149" y="0"/>
                </a:lnTo>
                <a:lnTo>
                  <a:pt x="2666149" y="3197780"/>
                </a:lnTo>
                <a:lnTo>
                  <a:pt x="0" y="3197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1988209">
            <a:off x="-2370322" y="6609881"/>
            <a:ext cx="4061959" cy="4871915"/>
          </a:xfrm>
          <a:custGeom>
            <a:avLst/>
            <a:gdLst/>
            <a:ahLst/>
            <a:cxnLst/>
            <a:rect r="r" b="b" t="t" l="l"/>
            <a:pathLst>
              <a:path h="4871915" w="4061959">
                <a:moveTo>
                  <a:pt x="0" y="0"/>
                </a:moveTo>
                <a:lnTo>
                  <a:pt x="4061959" y="0"/>
                </a:lnTo>
                <a:lnTo>
                  <a:pt x="4061959" y="4871915"/>
                </a:lnTo>
                <a:lnTo>
                  <a:pt x="0" y="4871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563647" y="3460383"/>
            <a:ext cx="6566565" cy="1087305"/>
          </a:xfrm>
          <a:custGeom>
            <a:avLst/>
            <a:gdLst/>
            <a:ahLst/>
            <a:cxnLst/>
            <a:rect r="r" b="b" t="t" l="l"/>
            <a:pathLst>
              <a:path h="1087305" w="6566565">
                <a:moveTo>
                  <a:pt x="0" y="0"/>
                </a:moveTo>
                <a:lnTo>
                  <a:pt x="6566565" y="0"/>
                </a:lnTo>
                <a:lnTo>
                  <a:pt x="6566565" y="1087305"/>
                </a:lnTo>
                <a:lnTo>
                  <a:pt x="0" y="1087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9710" r="0" b="-74881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589029" y="3643673"/>
            <a:ext cx="6541183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 K  L  A  E  E  L  A  L  G  S  T  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4907245" y="4269148"/>
            <a:ext cx="0" cy="101600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3180916" y="3291672"/>
            <a:ext cx="2968184" cy="1424728"/>
          </a:xfrm>
          <a:custGeom>
            <a:avLst/>
            <a:gdLst/>
            <a:ahLst/>
            <a:cxnLst/>
            <a:rect r="r" b="b" t="t" l="l"/>
            <a:pathLst>
              <a:path h="1424728" w="2968184">
                <a:moveTo>
                  <a:pt x="0" y="0"/>
                </a:moveTo>
                <a:lnTo>
                  <a:pt x="2968183" y="0"/>
                </a:lnTo>
                <a:lnTo>
                  <a:pt x="2968183" y="1424728"/>
                </a:lnTo>
                <a:lnTo>
                  <a:pt x="0" y="14247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3838872" y="7610984"/>
            <a:ext cx="2136747" cy="1353682"/>
          </a:xfrm>
          <a:custGeom>
            <a:avLst/>
            <a:gdLst/>
            <a:ahLst/>
            <a:cxnLst/>
            <a:rect r="r" b="b" t="t" l="l"/>
            <a:pathLst>
              <a:path h="1353682" w="2136747">
                <a:moveTo>
                  <a:pt x="0" y="0"/>
                </a:moveTo>
                <a:lnTo>
                  <a:pt x="2136747" y="0"/>
                </a:lnTo>
                <a:lnTo>
                  <a:pt x="2136747" y="1353683"/>
                </a:lnTo>
                <a:lnTo>
                  <a:pt x="0" y="1353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2912011" y="5257431"/>
            <a:ext cx="440814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sliding window: 31 residues (±15)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center on the residue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907245" y="6036353"/>
            <a:ext cx="0" cy="1062118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5975619" y="8285472"/>
            <a:ext cx="3602812" cy="2354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9713769" y="7640842"/>
            <a:ext cx="3474501" cy="1337683"/>
          </a:xfrm>
          <a:custGeom>
            <a:avLst/>
            <a:gdLst/>
            <a:ahLst/>
            <a:cxnLst/>
            <a:rect r="r" b="b" t="t" l="l"/>
            <a:pathLst>
              <a:path h="1337683" w="3474501">
                <a:moveTo>
                  <a:pt x="0" y="0"/>
                </a:moveTo>
                <a:lnTo>
                  <a:pt x="3474500" y="0"/>
                </a:lnTo>
                <a:lnTo>
                  <a:pt x="3474500" y="1337683"/>
                </a:lnTo>
                <a:lnTo>
                  <a:pt x="0" y="13376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 flipV="true">
            <a:off x="11451019" y="5676612"/>
            <a:ext cx="0" cy="196423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0071153" y="3460383"/>
            <a:ext cx="3022456" cy="1496637"/>
          </a:xfrm>
          <a:custGeom>
            <a:avLst/>
            <a:gdLst/>
            <a:ahLst/>
            <a:cxnLst/>
            <a:rect r="r" b="b" t="t" l="l"/>
            <a:pathLst>
              <a:path h="1496637" w="3022456">
                <a:moveTo>
                  <a:pt x="0" y="0"/>
                </a:moveTo>
                <a:lnTo>
                  <a:pt x="3022456" y="0"/>
                </a:lnTo>
                <a:lnTo>
                  <a:pt x="3022456" y="1496637"/>
                </a:lnTo>
                <a:lnTo>
                  <a:pt x="0" y="14966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-5400000">
            <a:off x="10540230" y="2371300"/>
            <a:ext cx="1916827" cy="3795698"/>
          </a:xfrm>
          <a:custGeom>
            <a:avLst/>
            <a:gdLst/>
            <a:ahLst/>
            <a:cxnLst/>
            <a:rect r="r" b="b" t="t" l="l"/>
            <a:pathLst>
              <a:path h="3795698" w="1916827">
                <a:moveTo>
                  <a:pt x="0" y="0"/>
                </a:moveTo>
                <a:lnTo>
                  <a:pt x="1916828" y="0"/>
                </a:lnTo>
                <a:lnTo>
                  <a:pt x="1916828" y="3795697"/>
                </a:lnTo>
                <a:lnTo>
                  <a:pt x="0" y="3795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7" id="17"/>
          <p:cNvSpPr txBox="true"/>
          <p:nvPr/>
        </p:nvSpPr>
        <p:spPr>
          <a:xfrm rot="0">
            <a:off x="1734391" y="408734"/>
            <a:ext cx="14819219" cy="299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BayesFlow learns from local sliding windows</a:t>
            </a:r>
          </a:p>
          <a:p>
            <a:pPr algn="ctr">
              <a:lnSpc>
                <a:spcPts val="784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2703175" y="7069896"/>
            <a:ext cx="440814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one-hot encoding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03175" y="9127158"/>
            <a:ext cx="4286101" cy="79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22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229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positions x 21 channels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(20 amino acids + 1 padding)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78431" y="8023217"/>
            <a:ext cx="3474501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CouplingFlow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84290" y="9127158"/>
            <a:ext cx="2862783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amortized posterior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63065" y="2882990"/>
            <a:ext cx="3733428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P(helix) for center residue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0547" y="5170412"/>
            <a:ext cx="443619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posterior mean ± uncertainty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26750" y="5816805"/>
            <a:ext cx="3862807" cy="359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CouplingFlow outputs a posterior distribution, summarized by mean ± uncertainty.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Sliding the window along the chain gives one prediction per residue.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3647" y="641055"/>
            <a:ext cx="15117647" cy="1010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we fitted BayesFlow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988209">
            <a:off x="15542397" y="7711564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9"/>
                </a:lnTo>
                <a:lnTo>
                  <a:pt x="0" y="4490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0">
            <a:off x="15941084" y="-38100"/>
            <a:ext cx="2385016" cy="2530521"/>
          </a:xfrm>
          <a:custGeom>
            <a:avLst/>
            <a:gdLst/>
            <a:ahLst/>
            <a:cxnLst/>
            <a:rect r="r" b="b" t="t" l="l"/>
            <a:pathLst>
              <a:path h="2530521" w="2385016">
                <a:moveTo>
                  <a:pt x="2385016" y="2530521"/>
                </a:moveTo>
                <a:lnTo>
                  <a:pt x="0" y="2530521"/>
                </a:lnTo>
                <a:lnTo>
                  <a:pt x="0" y="0"/>
                </a:lnTo>
                <a:lnTo>
                  <a:pt x="2385016" y="0"/>
                </a:lnTo>
                <a:lnTo>
                  <a:pt x="2385016" y="25305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-10800000">
            <a:off x="-163808" y="8566062"/>
            <a:ext cx="1727455" cy="1832843"/>
          </a:xfrm>
          <a:custGeom>
            <a:avLst/>
            <a:gdLst/>
            <a:ahLst/>
            <a:cxnLst/>
            <a:rect r="r" b="b" t="t" l="l"/>
            <a:pathLst>
              <a:path h="1832843" w="1727455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1988209">
            <a:off x="-874622" y="1692412"/>
            <a:ext cx="1749243" cy="2098043"/>
          </a:xfrm>
          <a:custGeom>
            <a:avLst/>
            <a:gdLst/>
            <a:ahLst/>
            <a:cxnLst/>
            <a:rect r="r" b="b" t="t" l="l"/>
            <a:pathLst>
              <a:path h="2098043" w="1749243">
                <a:moveTo>
                  <a:pt x="0" y="0"/>
                </a:moveTo>
                <a:lnTo>
                  <a:pt x="1749244" y="0"/>
                </a:lnTo>
                <a:lnTo>
                  <a:pt x="1749244" y="2098042"/>
                </a:lnTo>
                <a:lnTo>
                  <a:pt x="0" y="2098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3540557" y="2492421"/>
          <a:ext cx="11206886" cy="6111727"/>
        </p:xfrm>
        <a:graphic>
          <a:graphicData uri="http://schemas.openxmlformats.org/drawingml/2006/table">
            <a:tbl>
              <a:tblPr/>
              <a:tblGrid>
                <a:gridCol w="3645954"/>
                <a:gridCol w="7560932"/>
              </a:tblGrid>
              <a:tr h="10186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target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63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Forward-Backward P(helix), as logit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6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Input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9D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 x 21 one-hot sliding window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6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Network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BayesFlow CouplingFlow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6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Training data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F3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around 300,000 windows from 15,000 chains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6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Regime 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6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offline, Adam, 30 epochs, batch 512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86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Validation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28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held-out tail block - no leakage (asserted)</a:t>
                      </a:r>
                      <a:endParaRPr lang="en-US" sz="1100"/>
                    </a:p>
                  </a:txBody>
                  <a:tcPr marL="161925" marR="161925" marT="161925" marB="161925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0" y="8859520"/>
            <a:ext cx="1594108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Interpretation: BayesFlow is not trained directly on real labels. It is trained to imitate the exact HMM posterior produced by Forward-Backward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5213" y="1028700"/>
            <a:ext cx="12541309" cy="1410897"/>
          </a:xfrm>
          <a:custGeom>
            <a:avLst/>
            <a:gdLst/>
            <a:ahLst/>
            <a:cxnLst/>
            <a:rect r="r" b="b" t="t" l="l"/>
            <a:pathLst>
              <a:path h="1410897" w="12541309">
                <a:moveTo>
                  <a:pt x="0" y="0"/>
                </a:moveTo>
                <a:lnTo>
                  <a:pt x="12541309" y="0"/>
                </a:lnTo>
                <a:lnTo>
                  <a:pt x="12541309" y="1410897"/>
                </a:lnTo>
                <a:lnTo>
                  <a:pt x="0" y="1410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15174869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-10800000">
            <a:off x="-163808" y="8566062"/>
            <a:ext cx="1727455" cy="1832843"/>
          </a:xfrm>
          <a:custGeom>
            <a:avLst/>
            <a:gdLst/>
            <a:ahLst/>
            <a:cxnLst/>
            <a:rect r="r" b="b" t="t" l="l"/>
            <a:pathLst>
              <a:path h="1832843" w="1727455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" id="5"/>
          <p:cNvSpPr txBox="true"/>
          <p:nvPr/>
        </p:nvSpPr>
        <p:spPr>
          <a:xfrm rot="0">
            <a:off x="1563647" y="7352146"/>
            <a:ext cx="14202820" cy="118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Results: 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correlation r = 0.999 and MAE = 0.007 </a:t>
            </a:r>
          </a:p>
          <a:p>
            <a:pPr algn="ctr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 is interchangeable with FB for this HMM.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1988209">
            <a:off x="15012670" y="7012871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3733688" y="3118486"/>
            <a:ext cx="9862738" cy="3919334"/>
          </a:xfrm>
          <a:custGeom>
            <a:avLst/>
            <a:gdLst/>
            <a:ahLst/>
            <a:cxnLst/>
            <a:rect r="r" b="b" t="t" l="l"/>
            <a:pathLst>
              <a:path h="3919334" w="9862738">
                <a:moveTo>
                  <a:pt x="0" y="0"/>
                </a:moveTo>
                <a:lnTo>
                  <a:pt x="9862738" y="0"/>
                </a:lnTo>
                <a:lnTo>
                  <a:pt x="9862738" y="3919335"/>
                </a:lnTo>
                <a:lnTo>
                  <a:pt x="0" y="39193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518901" y="1148043"/>
            <a:ext cx="11108134" cy="101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Held-out simulated 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3264" y="2613625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BayesFlow near-perfectly reproduced exact Forward-Backward on unseen simulation.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5213" y="1028700"/>
            <a:ext cx="12541309" cy="1410897"/>
          </a:xfrm>
          <a:custGeom>
            <a:avLst/>
            <a:gdLst/>
            <a:ahLst/>
            <a:cxnLst/>
            <a:rect r="r" b="b" t="t" l="l"/>
            <a:pathLst>
              <a:path h="1410897" w="12541309">
                <a:moveTo>
                  <a:pt x="0" y="0"/>
                </a:moveTo>
                <a:lnTo>
                  <a:pt x="12541309" y="0"/>
                </a:lnTo>
                <a:lnTo>
                  <a:pt x="12541309" y="1410897"/>
                </a:lnTo>
                <a:lnTo>
                  <a:pt x="0" y="1410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15174869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-10800000">
            <a:off x="-163808" y="8566062"/>
            <a:ext cx="1727455" cy="1832843"/>
          </a:xfrm>
          <a:custGeom>
            <a:avLst/>
            <a:gdLst/>
            <a:ahLst/>
            <a:cxnLst/>
            <a:rect r="r" b="b" t="t" l="l"/>
            <a:pathLst>
              <a:path h="1832843" w="1727455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1563647" y="3337561"/>
            <a:ext cx="5958264" cy="3351524"/>
          </a:xfrm>
          <a:custGeom>
            <a:avLst/>
            <a:gdLst/>
            <a:ahLst/>
            <a:cxnLst/>
            <a:rect r="r" b="b" t="t" l="l"/>
            <a:pathLst>
              <a:path h="3351524" w="5958264">
                <a:moveTo>
                  <a:pt x="0" y="0"/>
                </a:moveTo>
                <a:lnTo>
                  <a:pt x="5958264" y="0"/>
                </a:lnTo>
                <a:lnTo>
                  <a:pt x="5958264" y="3351524"/>
                </a:lnTo>
                <a:lnTo>
                  <a:pt x="0" y="33515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9540885" y="3337561"/>
            <a:ext cx="5342731" cy="3172246"/>
          </a:xfrm>
          <a:custGeom>
            <a:avLst/>
            <a:gdLst/>
            <a:ahLst/>
            <a:cxnLst/>
            <a:rect r="r" b="b" t="t" l="l"/>
            <a:pathLst>
              <a:path h="3172246" w="5342731">
                <a:moveTo>
                  <a:pt x="0" y="0"/>
                </a:moveTo>
                <a:lnTo>
                  <a:pt x="5342731" y="0"/>
                </a:lnTo>
                <a:lnTo>
                  <a:pt x="5342731" y="3172247"/>
                </a:lnTo>
                <a:lnTo>
                  <a:pt x="0" y="31722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104117" y="7364517"/>
            <a:ext cx="14202820" cy="118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Posterior contraction ~ 1.0 - the window removes almost all prior uncertainty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Calibration is close, but SBC is not flat - a small location bias, not an over-narrow posterior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is not a bug: it is a tunable accuracy-calibration trade-off (next slide)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4117" y="1094406"/>
            <a:ext cx="11108134" cy="101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the posterior trustworthy?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117" y="2474597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checks: calibration (SBC) and posterior contraction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9373" y="6547908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SBC rank histogram - calibration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0885" y="6462183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Posterior contraction vs z-score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1988209">
            <a:off x="15012670" y="7012871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575213" y="1028700"/>
            <a:ext cx="13275755" cy="1493522"/>
          </a:xfrm>
          <a:custGeom>
            <a:avLst/>
            <a:gdLst/>
            <a:ahLst/>
            <a:cxnLst/>
            <a:rect r="r" b="b" t="t" l="l"/>
            <a:pathLst>
              <a:path h="1493522" w="13275755">
                <a:moveTo>
                  <a:pt x="0" y="0"/>
                </a:moveTo>
                <a:lnTo>
                  <a:pt x="13275756" y="0"/>
                </a:lnTo>
                <a:lnTo>
                  <a:pt x="13275756" y="1493522"/>
                </a:lnTo>
                <a:lnTo>
                  <a:pt x="0" y="149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15174869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-10800000">
            <a:off x="-163808" y="8566062"/>
            <a:ext cx="1727455" cy="1832843"/>
          </a:xfrm>
          <a:custGeom>
            <a:avLst/>
            <a:gdLst/>
            <a:ahLst/>
            <a:cxnLst/>
            <a:rect r="r" b="b" t="t" l="l"/>
            <a:pathLst>
              <a:path h="1832843" w="1727455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14400" y="8275320"/>
            <a:ext cx="164592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swept the window size W in {7,11,15,21,31} and measured point accuracy (r) and calibration (SBC-KS)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Accuracy rises with W (r 0.87 -&gt; 0.998); calibration is U-shaped, best at W=11-15 then degrades 2-3x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W=15 is the knee: near-top accuracy (r 0.976) AND best calibration - a knob to tune, not a defect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5094" y="1189356"/>
            <a:ext cx="13331955" cy="101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accuracy-calibration trade-off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22126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95122"/>
            <a:ext cx="1272272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/>
            </a:r>
          </a:p>
        </p:txBody>
      </p:sp>
      <p:pic>
        <p:nvPicPr>
          <p:cNvPr id="10" name="Picture 9" descr="pareto_fronti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7440" y="2926080"/>
            <a:ext cx="13533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5213" y="1028700"/>
            <a:ext cx="13275755" cy="1493522"/>
          </a:xfrm>
          <a:custGeom>
            <a:avLst/>
            <a:gdLst/>
            <a:ahLst/>
            <a:cxnLst/>
            <a:rect r="r" b="b" t="t" l="l"/>
            <a:pathLst>
              <a:path h="1493522" w="13275755">
                <a:moveTo>
                  <a:pt x="0" y="0"/>
                </a:moveTo>
                <a:lnTo>
                  <a:pt x="13275756" y="0"/>
                </a:lnTo>
                <a:lnTo>
                  <a:pt x="13275756" y="1493522"/>
                </a:lnTo>
                <a:lnTo>
                  <a:pt x="0" y="149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15174869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-10800000">
            <a:off x="-163808" y="8566062"/>
            <a:ext cx="1727455" cy="1832843"/>
          </a:xfrm>
          <a:custGeom>
            <a:avLst/>
            <a:gdLst/>
            <a:ahLst/>
            <a:cxnLst/>
            <a:rect r="r" b="b" t="t" l="l"/>
            <a:pathLst>
              <a:path h="1832843" w="1727455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0576111" y="3426663"/>
            <a:ext cx="6815880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Wild-type insulin (1MSO): P(helix) rises inside the annotated B-chain helix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B-chain AUC 0.98, but A-chain 0.52 (chance) - BayesFlow and exact FB agree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A-chain helix is likely disulfide-stabilised (consistent with the data); a sequence-only HMM cannot see 3-D bonds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5094" y="1189356"/>
            <a:ext cx="13331955" cy="101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First real protein: human insulin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722126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trained only on simulation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95122"/>
            <a:ext cx="12722720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P(helix): BayesFlow vs exact FB; gold band = annotated helix (truth)</a:t>
            </a:r>
          </a:p>
        </p:txBody>
      </p:sp>
      <p:pic>
        <p:nvPicPr>
          <p:cNvPr id="10" name="Picture 9" descr="insulin_1MSO_sli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526" y="3129099"/>
            <a:ext cx="9307796" cy="57708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5213" y="1028700"/>
            <a:ext cx="14827109" cy="1668050"/>
          </a:xfrm>
          <a:custGeom>
            <a:avLst/>
            <a:gdLst/>
            <a:ahLst/>
            <a:cxnLst/>
            <a:rect r="r" b="b" t="t" l="l"/>
            <a:pathLst>
              <a:path h="1668050" w="14827109">
                <a:moveTo>
                  <a:pt x="0" y="0"/>
                </a:moveTo>
                <a:lnTo>
                  <a:pt x="14827109" y="0"/>
                </a:lnTo>
                <a:lnTo>
                  <a:pt x="14827109" y="1668050"/>
                </a:lnTo>
                <a:lnTo>
                  <a:pt x="0" y="1668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6986457" y="9296921"/>
            <a:ext cx="811069" cy="315303"/>
          </a:xfrm>
          <a:custGeom>
            <a:avLst/>
            <a:gdLst/>
            <a:ahLst/>
            <a:cxnLst/>
            <a:rect r="r" b="b" t="t" l="l"/>
            <a:pathLst>
              <a:path h="315303" w="811069">
                <a:moveTo>
                  <a:pt x="0" y="0"/>
                </a:moveTo>
                <a:lnTo>
                  <a:pt x="811069" y="0"/>
                </a:lnTo>
                <a:lnTo>
                  <a:pt x="811069" y="315303"/>
                </a:lnTo>
                <a:lnTo>
                  <a:pt x="0" y="315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1988209">
            <a:off x="15408956" y="-164551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9"/>
                </a:lnTo>
                <a:lnTo>
                  <a:pt x="0" y="44908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true" rot="-10800000">
            <a:off x="-163808" y="8566062"/>
            <a:ext cx="1727455" cy="1832843"/>
          </a:xfrm>
          <a:custGeom>
            <a:avLst/>
            <a:gdLst/>
            <a:ahLst/>
            <a:cxnLst/>
            <a:rect r="r" b="b" t="t" l="l"/>
            <a:pathLst>
              <a:path h="1832843" w="1727455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026847" y="3294388"/>
            <a:ext cx="5811494" cy="3698224"/>
          </a:xfrm>
          <a:custGeom>
            <a:avLst/>
            <a:gdLst/>
            <a:ahLst/>
            <a:cxnLst/>
            <a:rect r="r" b="b" t="t" l="l"/>
            <a:pathLst>
              <a:path h="3698224" w="5811494">
                <a:moveTo>
                  <a:pt x="0" y="0"/>
                </a:moveTo>
                <a:lnTo>
                  <a:pt x="5811495" y="0"/>
                </a:lnTo>
                <a:lnTo>
                  <a:pt x="5811495" y="3698224"/>
                </a:lnTo>
                <a:lnTo>
                  <a:pt x="0" y="36982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973436" y="8079130"/>
            <a:ext cx="11965781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Scored all 8,994 real chains; per-chain AUC 0.75 over the 8,308 with both classes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 = exact FB everywhere ( held-out, insulin, PISCES)</a:t>
            </a:r>
          </a:p>
          <a:p>
            <a:pPr algn="l">
              <a:lnSpc>
                <a:spcPts val="3220"/>
              </a:lnSpc>
            </a:pP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Held-out sim: correlation 0.999 with FB - interchangeable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1007" y="1276619"/>
            <a:ext cx="15614297" cy="101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Does it hold across the real proteome?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22126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8,994 real PISCES chains - BayesFlow vs exact Forward-Backward.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44987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Per-chain AUC over real chains - BayesFlow = exact FB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99904" y="6944987"/>
            <a:ext cx="9097622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AUC &amp; accuracy across all four settings - BayesFlow vs FB</a:t>
            </a:r>
          </a:p>
        </p:txBody>
      </p:sp>
      <p:pic>
        <p:nvPicPr>
          <p:cNvPr id="13" name="Picture 12" descr="comparis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9922" y="3294388"/>
            <a:ext cx="8466535" cy="34773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5213" y="1028700"/>
            <a:ext cx="13275755" cy="1493522"/>
          </a:xfrm>
          <a:custGeom>
            <a:avLst/>
            <a:gdLst/>
            <a:ahLst/>
            <a:cxnLst/>
            <a:rect r="r" b="b" t="t" l="l"/>
            <a:pathLst>
              <a:path h="1493522" w="13275755">
                <a:moveTo>
                  <a:pt x="0" y="0"/>
                </a:moveTo>
                <a:lnTo>
                  <a:pt x="13275756" y="0"/>
                </a:lnTo>
                <a:lnTo>
                  <a:pt x="13275756" y="1493522"/>
                </a:lnTo>
                <a:lnTo>
                  <a:pt x="0" y="1493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1988209">
            <a:off x="15174869" y="-1674770"/>
            <a:ext cx="3744253" cy="4490858"/>
          </a:xfrm>
          <a:custGeom>
            <a:avLst/>
            <a:gdLst/>
            <a:ahLst/>
            <a:cxnLst/>
            <a:rect r="r" b="b" t="t" l="l"/>
            <a:pathLst>
              <a:path h="4490858" w="3744253">
                <a:moveTo>
                  <a:pt x="0" y="0"/>
                </a:moveTo>
                <a:lnTo>
                  <a:pt x="3744253" y="0"/>
                </a:lnTo>
                <a:lnTo>
                  <a:pt x="3744253" y="4490858"/>
                </a:lnTo>
                <a:lnTo>
                  <a:pt x="0" y="4490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true" rot="-10800000">
            <a:off x="-163808" y="8566062"/>
            <a:ext cx="1727455" cy="1832843"/>
          </a:xfrm>
          <a:custGeom>
            <a:avLst/>
            <a:gdLst/>
            <a:ahLst/>
            <a:cxnLst/>
            <a:rect r="r" b="b" t="t" l="l"/>
            <a:pathLst>
              <a:path h="1832843" w="1727455">
                <a:moveTo>
                  <a:pt x="1727455" y="1832844"/>
                </a:moveTo>
                <a:lnTo>
                  <a:pt x="0" y="1832844"/>
                </a:lnTo>
                <a:lnTo>
                  <a:pt x="0" y="0"/>
                </a:lnTo>
                <a:lnTo>
                  <a:pt x="1727455" y="0"/>
                </a:lnTo>
                <a:lnTo>
                  <a:pt x="1727455" y="183284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699919" y="6279172"/>
            <a:ext cx="6312798" cy="1420272"/>
          </a:xfrm>
          <a:custGeom>
            <a:avLst/>
            <a:gdLst/>
            <a:ahLst/>
            <a:cxnLst/>
            <a:rect r="r" b="b" t="t" l="l"/>
            <a:pathLst>
              <a:path h="1420272" w="6312798">
                <a:moveTo>
                  <a:pt x="0" y="0"/>
                </a:moveTo>
                <a:lnTo>
                  <a:pt x="6312799" y="0"/>
                </a:lnTo>
                <a:lnTo>
                  <a:pt x="6312799" y="1420273"/>
                </a:lnTo>
                <a:lnTo>
                  <a:pt x="0" y="1420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2654" r="0" b="-38469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0345286" y="6279172"/>
            <a:ext cx="6312798" cy="1420272"/>
          </a:xfrm>
          <a:custGeom>
            <a:avLst/>
            <a:gdLst/>
            <a:ahLst/>
            <a:cxnLst/>
            <a:rect r="r" b="b" t="t" l="l"/>
            <a:pathLst>
              <a:path h="1420272" w="6312798">
                <a:moveTo>
                  <a:pt x="0" y="0"/>
                </a:moveTo>
                <a:lnTo>
                  <a:pt x="6312798" y="0"/>
                </a:lnTo>
                <a:lnTo>
                  <a:pt x="6312798" y="1420273"/>
                </a:lnTo>
                <a:lnTo>
                  <a:pt x="0" y="1420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4714" r="0" b="-36409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345286" y="5195045"/>
            <a:ext cx="1588285" cy="444720"/>
          </a:xfrm>
          <a:custGeom>
            <a:avLst/>
            <a:gdLst/>
            <a:ahLst/>
            <a:cxnLst/>
            <a:rect r="r" b="b" t="t" l="l"/>
            <a:pathLst>
              <a:path h="444720" w="1588285">
                <a:moveTo>
                  <a:pt x="0" y="0"/>
                </a:moveTo>
                <a:lnTo>
                  <a:pt x="1588285" y="0"/>
                </a:lnTo>
                <a:lnTo>
                  <a:pt x="1588285" y="444720"/>
                </a:lnTo>
                <a:lnTo>
                  <a:pt x="0" y="4447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524355" y="3426663"/>
            <a:ext cx="14452949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 reproduces the exact HMM posterior.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BayesFlow learns the HMM world only, not the real biology.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Real-data AUC around 0.75 shows useful signal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919" y="1189356"/>
            <a:ext cx="13331955" cy="1010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  <a:spcBef>
                <a:spcPct val="0"/>
              </a:spcBef>
            </a:pPr>
            <a:r>
              <a:rPr lang="en-US" b="true" sz="5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9919" y="6526304"/>
            <a:ext cx="6312798" cy="88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amortized approximation of Forward-Backward posteriors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50235" y="5189440"/>
            <a:ext cx="245186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BayesFlow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20165" y="5701885"/>
            <a:ext cx="107230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00543" y="5701885"/>
            <a:ext cx="2030335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Cannot do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5418768" y="5195045"/>
            <a:ext cx="1588285" cy="444720"/>
          </a:xfrm>
          <a:custGeom>
            <a:avLst/>
            <a:gdLst/>
            <a:ahLst/>
            <a:cxnLst/>
            <a:rect r="r" b="b" t="t" l="l"/>
            <a:pathLst>
              <a:path h="444720" w="1588285">
                <a:moveTo>
                  <a:pt x="0" y="0"/>
                </a:moveTo>
                <a:lnTo>
                  <a:pt x="1588285" y="0"/>
                </a:lnTo>
                <a:lnTo>
                  <a:pt x="1588285" y="444720"/>
                </a:lnTo>
                <a:lnTo>
                  <a:pt x="0" y="4447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10681785" y="6580914"/>
            <a:ext cx="5639800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Recover biological structure that is absent from the 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9189720"/>
            <a:ext cx="11704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333333"/>
                </a:solidFill>
              </a:rPr>
              <a:t>munish.patwa@tu-dortmund.de  ·  rohit.stanly@tu-dortmund.de</a:t>
            </a:r>
          </a:p>
          <a:p>
            <a:pPr algn="ctr"/>
            <a:r>
              <a:rPr sz="1700">
                <a:solidFill>
                  <a:srgbClr val="333333"/>
                </a:solidFill>
              </a:rPr>
              <a:t>nazrin.azizova@tu-dortmund.de  ·  alsu.alimzanova@tu-dortmund.de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DAHPenBD5pI</dc:identifier>
  <dcterms:modified xsi:type="dcterms:W3CDTF">2011-08-01T06:04:30Z</dcterms:modified>
  <cp:revision>1</cp:revision>
  <dc:title>SBI Presentation</dc:title>
</cp:coreProperties>
</file>