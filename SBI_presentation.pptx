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State the goal in one line: predict per-residue alpha-helix probability from an amino-acid sequence, using a fixed two-state HMM and a BayesFlow amortized posterior. Replace the group number and member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Keep this to ~15 seconds — it just sets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topic and the exact prediction target. Emphasize the modeling choice: strict H-only helix definition (cleaner than merging G and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statistical model. Point at the self-loops (0.90 / 0.95) and the cross arrows (0.05 / 0.10). The 0.90 stay-probability is what makes helices come 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state emits amino acids with its own propensities (helix loves A,L,E; breakers G,P favor other). We verified the GIVEN transition probabilities against real sst8 data — they match within ~1 point, confirming the model's macro-statistics are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Forward-Backward gives the exact posterior P(helix) for each residue given the whole chain. hmmlearn does this. These become the targets BayesFlow learns to emulate. The 0.79 AUC ceiling comes from overlapping emission tables — even exact inference can't separate helix/other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modeling idea. Explain: normalizing flows need fixed dimensions, sequences vary, so we amortize one residue at a time through a fixed window and slide it. One-hot (not integer) because amino acids are categorical; padding channel marks chain edges. Local view =&gt; stochastic map =&gt; non-degenerate posterior, which is exactly what BayesFlow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table. Stress the disjoint train/val split — a natural exam question is 'how do you know there's no leakage?' Answer: front vs tail blocks, plus a runtime assert that no validation sequence appears in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assignment's step 4. Note: absolute P(helix) peaks only ~0.56 on the B-chain — the fixed HMM is uncalibrated to real proteins, so AUC (ranking) is the fair metric, not accuracy@0.5.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Generalization test on the whole culled real dataset. The point: BayesFlow tracks exact FB even far out of distribution, and the honest real-world number is ~0.75 AUC for this deliberately simple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result 1: BayesFlow reproduces the exact posterior almost perfectly. The scatter hugging the diagonal is the money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for BayesFlow and FB are the same height in every group — that's the whole thesis: faithful amortization. Both track ground truth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row by row. Key: the two method columns are equal everywhere, and no number beats exact FB — which is the correctness signature, since FB is the exact Bayesian posterior.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TL;DR. Land these four sentences. Be ready for questions on: what amortization buys you, why a normalizing flow, why AUC not accuracy, and the difference between Forward-Backward and Viterbi.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3B2E"/>
        </a:solidFill>
      </p:bgPr>
    </p:bg>
    <p:spTree>
      <p:nvGrpSpPr>
        <p:cNvPr id="1" name=""/>
        <p:cNvGrpSpPr/>
        <p:nvPr/>
      </p:nvGrpSpPr>
      <p:grpSpPr>
        <a:xfrm>
          <a:off x="0" y="0"/>
          <a:ext cx="0" cy="0"/>
          <a:chOff x="0" y="0"/>
          <a:chExt cx="0" cy="0"/>
        </a:xfrm>
      </p:grpSpPr>
      <p:sp>
        <p:nvSpPr>
          <p:cNvPr id="2" name="Text 0"/>
          <p:cNvSpPr/>
          <p:nvPr/>
        </p:nvSpPr>
        <p:spPr>
          <a:xfrm>
            <a:off x="8412480" y="182880"/>
            <a:ext cx="3657600" cy="6400800"/>
          </a:xfrm>
          <a:prstGeom prst="rect">
            <a:avLst/>
          </a:prstGeom>
          <a:noFill/>
          <a:ln/>
        </p:spPr>
        <p:txBody>
          <a:bodyPr wrap="square" lIns="0" tIns="0" rIns="0" bIns="0" rtlCol="0" anchor="ctr"/>
          <a:lstStyle/>
          <a:p>
            <a:pPr algn="ctr" indent="0" marL="0">
              <a:buNone/>
            </a:pPr>
            <a:r>
              <a:rPr lang="en-US" sz="34000" b="1" dirty="0">
                <a:solidFill>
                  <a:srgbClr val="13463A"/>
                </a:solidFill>
                <a:latin typeface="Cambria" pitchFamily="34" charset="0"/>
                <a:ea typeface="Cambria" pitchFamily="34" charset="-122"/>
                <a:cs typeface="Cambria" pitchFamily="34" charset="-120"/>
              </a:rPr>
              <a:t>α</a:t>
            </a:r>
            <a:endParaRPr lang="en-US" sz="34000" dirty="0"/>
          </a:p>
        </p:txBody>
      </p:sp>
      <p:sp>
        <p:nvSpPr>
          <p:cNvPr id="3" name="Text 1"/>
          <p:cNvSpPr/>
          <p:nvPr/>
        </p:nvSpPr>
        <p:spPr>
          <a:xfrm>
            <a:off x="640080" y="1051560"/>
            <a:ext cx="10058400" cy="365760"/>
          </a:xfrm>
          <a:prstGeom prst="rect">
            <a:avLst/>
          </a:prstGeom>
          <a:noFill/>
          <a:ln/>
        </p:spPr>
        <p:txBody>
          <a:bodyPr wrap="square" lIns="0" tIns="0" rIns="0" bIns="0" rtlCol="0" anchor="ctr"/>
          <a:lstStyle/>
          <a:p>
            <a:pPr indent="0" marL="0">
              <a:buNone/>
            </a:pPr>
            <a:r>
              <a:rPr lang="en-US" sz="1400" b="1" spc="300" kern="0" dirty="0">
                <a:solidFill>
                  <a:srgbClr val="8FE3C6"/>
                </a:solidFill>
                <a:latin typeface="Calibri" pitchFamily="34" charset="0"/>
                <a:ea typeface="Calibri" pitchFamily="34" charset="-122"/>
                <a:cs typeface="Calibri" pitchFamily="34" charset="-120"/>
              </a:rPr>
              <a:t>SIMULATION-BASED INFERENCE  ·  TU DORTMUND</a:t>
            </a:r>
            <a:endParaRPr lang="en-US" sz="1400" dirty="0"/>
          </a:p>
        </p:txBody>
      </p:sp>
      <p:sp>
        <p:nvSpPr>
          <p:cNvPr id="4" name="Text 2"/>
          <p:cNvSpPr/>
          <p:nvPr/>
        </p:nvSpPr>
        <p:spPr>
          <a:xfrm>
            <a:off x="640080" y="173736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Predicting α-helix secondary structure</a:t>
            </a:r>
            <a:endParaRPr lang="en-US" sz="4000" dirty="0"/>
          </a:p>
        </p:txBody>
      </p:sp>
      <p:sp>
        <p:nvSpPr>
          <p:cNvPr id="5" name="Text 3"/>
          <p:cNvSpPr/>
          <p:nvPr/>
        </p:nvSpPr>
        <p:spPr>
          <a:xfrm>
            <a:off x="640080" y="2743200"/>
            <a:ext cx="10058400" cy="640080"/>
          </a:xfrm>
          <a:prstGeom prst="rect">
            <a:avLst/>
          </a:prstGeom>
          <a:noFill/>
          <a:ln/>
        </p:spPr>
        <p:txBody>
          <a:bodyPr wrap="square" lIns="0" tIns="0" rIns="0" bIns="0" rtlCol="0" anchor="ctr"/>
          <a:lstStyle/>
          <a:p>
            <a:pPr indent="0" marL="0">
              <a:buNone/>
            </a:pPr>
            <a:r>
              <a:rPr lang="en-US" sz="2200" i="1" dirty="0">
                <a:solidFill>
                  <a:srgbClr val="8FE3C6"/>
                </a:solidFill>
                <a:latin typeface="Cambria" pitchFamily="34" charset="0"/>
                <a:ea typeface="Cambria" pitchFamily="34" charset="-122"/>
                <a:cs typeface="Cambria" pitchFamily="34" charset="-120"/>
              </a:rPr>
              <a:t>A two-state Hidden Markov Model fit with amortized BayesFlow inference</a:t>
            </a:r>
            <a:endParaRPr lang="en-US" sz="2200" dirty="0"/>
          </a:p>
        </p:txBody>
      </p:sp>
      <p:sp>
        <p:nvSpPr>
          <p:cNvPr id="6" name="Shape 4"/>
          <p:cNvSpPr/>
          <p:nvPr/>
        </p:nvSpPr>
        <p:spPr>
          <a:xfrm>
            <a:off x="685800" y="3794760"/>
            <a:ext cx="2926080" cy="0"/>
          </a:xfrm>
          <a:prstGeom prst="line">
            <a:avLst/>
          </a:prstGeom>
          <a:noFill/>
          <a:ln w="25400">
            <a:solidFill>
              <a:srgbClr val="1D9E75"/>
            </a:solidFill>
            <a:prstDash val="solid"/>
          </a:ln>
        </p:spPr>
      </p:sp>
      <p:sp>
        <p:nvSpPr>
          <p:cNvPr id="7" name="Text 5"/>
          <p:cNvSpPr/>
          <p:nvPr/>
        </p:nvSpPr>
        <p:spPr>
          <a:xfrm>
            <a:off x="685800" y="4023360"/>
            <a:ext cx="10058400" cy="1097280"/>
          </a:xfrm>
          <a:prstGeom prst="rect">
            <a:avLst/>
          </a:prstGeom>
          <a:noFill/>
          <a:ln/>
        </p:spPr>
        <p:txBody>
          <a:bodyPr wrap="square" lIns="0" tIns="0" rIns="0" bIns="0" rtlCol="0" anchor="ctr"/>
          <a:lstStyle/>
          <a:p>
            <a:pPr indent="0" marL="0">
              <a:spcAft>
                <a:spcPts val="600"/>
              </a:spcAft>
              <a:buNone/>
            </a:pPr>
            <a:r>
              <a:rPr lang="en-US" sz="1800" b="1" dirty="0">
                <a:solidFill>
                  <a:srgbClr val="FFFFFF"/>
                </a:solidFill>
                <a:latin typeface="Calibri" pitchFamily="34" charset="0"/>
                <a:ea typeface="Calibri" pitchFamily="34" charset="-122"/>
                <a:cs typeface="Calibri" pitchFamily="34" charset="-120"/>
              </a:rPr>
              <a:t>Group [ number ]</a:t>
            </a:r>
            <a:endParaRPr lang="en-US" sz="1800" dirty="0"/>
          </a:p>
          <a:p>
            <a:pPr indent="0" marL="0">
              <a:buNone/>
            </a:pPr>
            <a:r>
              <a:rPr lang="en-US" sz="1500" dirty="0">
                <a:solidFill>
                  <a:srgbClr val="8FE3C6"/>
                </a:solidFill>
                <a:latin typeface="Calibri" pitchFamily="34" charset="0"/>
                <a:ea typeface="Calibri" pitchFamily="34" charset="-122"/>
                <a:cs typeface="Calibri" pitchFamily="34" charset="-120"/>
              </a:rPr>
              <a:t>[ Member 1 ]   ·   [ Member 2 ]   ·   [ Member 3 ]</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02920"/>
            <a:ext cx="7315200" cy="731520"/>
          </a:xfrm>
          <a:prstGeom prst="rect">
            <a:avLst/>
          </a:prstGeom>
          <a:noFill/>
          <a:ln/>
        </p:spPr>
        <p:txBody>
          <a:bodyPr wrap="square" lIns="0" tIns="0" rIns="0" bIns="0" rtlCol="0" anchor="ctr"/>
          <a:lstStyle/>
          <a:p>
            <a:pPr indent="0" marL="0">
              <a:buNone/>
            </a:pPr>
            <a:r>
              <a:rPr lang="en-US" sz="3000" b="1" dirty="0">
                <a:solidFill>
                  <a:srgbClr val="0F6E56"/>
                </a:solidFill>
                <a:latin typeface="Cambria" pitchFamily="34" charset="0"/>
                <a:ea typeface="Cambria" pitchFamily="34" charset="-122"/>
                <a:cs typeface="Cambria" pitchFamily="34" charset="-120"/>
              </a:rPr>
              <a:t>Roadmap</a:t>
            </a:r>
            <a:endParaRPr lang="en-US" sz="3000" dirty="0"/>
          </a:p>
        </p:txBody>
      </p:sp>
      <p:sp>
        <p:nvSpPr>
          <p:cNvPr id="3" name="Shape 1"/>
          <p:cNvSpPr/>
          <p:nvPr/>
        </p:nvSpPr>
        <p:spPr>
          <a:xfrm>
            <a:off x="822960" y="1554480"/>
            <a:ext cx="566928" cy="566928"/>
          </a:xfrm>
          <a:prstGeom prst="ellipse">
            <a:avLst/>
          </a:prstGeom>
          <a:solidFill>
            <a:srgbClr val="1D9E75"/>
          </a:solidFill>
          <a:ln/>
        </p:spPr>
      </p:sp>
      <p:sp>
        <p:nvSpPr>
          <p:cNvPr id="4" name="Text 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p:nvPr/>
        </p:nvSpPr>
        <p:spPr>
          <a:xfrm>
            <a:off x="1645920" y="1554480"/>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The question   </a:t>
            </a:r>
            <a:pPr indent="0" marL="0">
              <a:buNone/>
            </a:pPr>
            <a:r>
              <a:rPr lang="en-US" sz="1400" dirty="0">
                <a:solidFill>
                  <a:srgbClr val="5B6B66"/>
                </a:solidFill>
                <a:latin typeface="Calibri" pitchFamily="34" charset="0"/>
                <a:ea typeface="Calibri" pitchFamily="34" charset="-122"/>
                <a:cs typeface="Calibri" pitchFamily="34" charset="-120"/>
              </a:rPr>
              <a:t>Predict α-helix vs other from sequence</a:t>
            </a:r>
            <a:endParaRPr lang="en-US" sz="1900" dirty="0"/>
          </a:p>
        </p:txBody>
      </p:sp>
      <p:sp>
        <p:nvSpPr>
          <p:cNvPr id="6" name="Shape 4"/>
          <p:cNvSpPr/>
          <p:nvPr/>
        </p:nvSpPr>
        <p:spPr>
          <a:xfrm>
            <a:off x="822960" y="2487168"/>
            <a:ext cx="566928" cy="566928"/>
          </a:xfrm>
          <a:prstGeom prst="ellipse">
            <a:avLst/>
          </a:prstGeom>
          <a:solidFill>
            <a:srgbClr val="1D9E75"/>
          </a:solidFill>
          <a:ln/>
        </p:spPr>
      </p:sp>
      <p:sp>
        <p:nvSpPr>
          <p:cNvPr id="7" name="Text 5"/>
          <p:cNvSpPr/>
          <p:nvPr/>
        </p:nvSpPr>
        <p:spPr>
          <a:xfrm>
            <a:off x="822960" y="248716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p:nvPr/>
        </p:nvSpPr>
        <p:spPr>
          <a:xfrm>
            <a:off x="1645920" y="2487168"/>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Forward–Backward   </a:t>
            </a:r>
            <a:pPr indent="0" marL="0">
              <a:buNone/>
            </a:pPr>
            <a:r>
              <a:rPr lang="en-US" sz="1400" dirty="0">
                <a:solidFill>
                  <a:srgbClr val="5B6B66"/>
                </a:solidFill>
                <a:latin typeface="Calibri" pitchFamily="34" charset="0"/>
                <a:ea typeface="Calibri" pitchFamily="34" charset="-122"/>
                <a:cs typeface="Calibri" pitchFamily="34" charset="-120"/>
              </a:rPr>
              <a:t>Exact per-residue posterior as training targets</a:t>
            </a:r>
            <a:endParaRPr lang="en-US" sz="1900" dirty="0"/>
          </a:p>
        </p:txBody>
      </p:sp>
      <p:sp>
        <p:nvSpPr>
          <p:cNvPr id="9" name="Shape 7"/>
          <p:cNvSpPr/>
          <p:nvPr/>
        </p:nvSpPr>
        <p:spPr>
          <a:xfrm>
            <a:off x="822960" y="3419856"/>
            <a:ext cx="566928" cy="566928"/>
          </a:xfrm>
          <a:prstGeom prst="ellipse">
            <a:avLst/>
          </a:prstGeom>
          <a:solidFill>
            <a:srgbClr val="1D9E75"/>
          </a:solidFill>
          <a:ln/>
        </p:spPr>
      </p:sp>
      <p:sp>
        <p:nvSpPr>
          <p:cNvPr id="10" name="Text 8"/>
          <p:cNvSpPr/>
          <p:nvPr/>
        </p:nvSpPr>
        <p:spPr>
          <a:xfrm>
            <a:off x="822960" y="341985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p:nvPr/>
        </p:nvSpPr>
        <p:spPr>
          <a:xfrm>
            <a:off x="1645920" y="3419856"/>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BayesFlow   </a:t>
            </a:r>
            <a:pPr indent="0" marL="0">
              <a:buNone/>
            </a:pPr>
            <a:r>
              <a:rPr lang="en-US" sz="1400" dirty="0">
                <a:solidFill>
                  <a:srgbClr val="5B6B66"/>
                </a:solidFill>
                <a:latin typeface="Calibri" pitchFamily="34" charset="0"/>
                <a:ea typeface="Calibri" pitchFamily="34" charset="-122"/>
                <a:cs typeface="Calibri" pitchFamily="34" charset="-120"/>
              </a:rPr>
              <a:t>Amortized neural posterior via a sliding window</a:t>
            </a:r>
            <a:endParaRPr lang="en-US" sz="1900" dirty="0"/>
          </a:p>
        </p:txBody>
      </p:sp>
      <p:sp>
        <p:nvSpPr>
          <p:cNvPr id="12" name="Shape 10"/>
          <p:cNvSpPr/>
          <p:nvPr/>
        </p:nvSpPr>
        <p:spPr>
          <a:xfrm>
            <a:off x="822960" y="4352544"/>
            <a:ext cx="566928" cy="566928"/>
          </a:xfrm>
          <a:prstGeom prst="ellipse">
            <a:avLst/>
          </a:prstGeom>
          <a:solidFill>
            <a:srgbClr val="1D9E75"/>
          </a:solidFill>
          <a:ln/>
        </p:spPr>
      </p:sp>
      <p:sp>
        <p:nvSpPr>
          <p:cNvPr id="13" name="Text 11"/>
          <p:cNvSpPr/>
          <p:nvPr/>
        </p:nvSpPr>
        <p:spPr>
          <a:xfrm>
            <a:off x="822960" y="43525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4" name="Text 12"/>
          <p:cNvSpPr/>
          <p:nvPr/>
        </p:nvSpPr>
        <p:spPr>
          <a:xfrm>
            <a:off x="1645920" y="4352544"/>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Insulin &amp; real evaluation   </a:t>
            </a:r>
            <a:pPr indent="0" marL="0">
              <a:buNone/>
            </a:pPr>
            <a:r>
              <a:rPr lang="en-US" sz="1400" dirty="0">
                <a:solidFill>
                  <a:srgbClr val="5B6B66"/>
                </a:solidFill>
                <a:latin typeface="Calibri" pitchFamily="34" charset="0"/>
                <a:ea typeface="Calibri" pitchFamily="34" charset="-122"/>
                <a:cs typeface="Calibri" pitchFamily="34" charset="-120"/>
              </a:rPr>
              <a:t>Held-out real proteins vs ground truth</a:t>
            </a:r>
            <a:endParaRPr lang="en-US" sz="1900" dirty="0"/>
          </a:p>
        </p:txBody>
      </p:sp>
      <p:sp>
        <p:nvSpPr>
          <p:cNvPr id="15" name="Shape 13"/>
          <p:cNvSpPr/>
          <p:nvPr/>
        </p:nvSpPr>
        <p:spPr>
          <a:xfrm>
            <a:off x="822960" y="5285232"/>
            <a:ext cx="566928" cy="566928"/>
          </a:xfrm>
          <a:prstGeom prst="ellipse">
            <a:avLst/>
          </a:prstGeom>
          <a:solidFill>
            <a:srgbClr val="1D9E75"/>
          </a:solidFill>
          <a:ln/>
        </p:spPr>
      </p:sp>
      <p:sp>
        <p:nvSpPr>
          <p:cNvPr id="16" name="Text 14"/>
          <p:cNvSpPr/>
          <p:nvPr/>
        </p:nvSpPr>
        <p:spPr>
          <a:xfrm>
            <a:off x="822960" y="5285232"/>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17" name="Text 15"/>
          <p:cNvSpPr/>
          <p:nvPr/>
        </p:nvSpPr>
        <p:spPr>
          <a:xfrm>
            <a:off x="1645920" y="5285232"/>
            <a:ext cx="10058400" cy="566928"/>
          </a:xfrm>
          <a:prstGeom prst="rect">
            <a:avLst/>
          </a:prstGeom>
          <a:noFill/>
          <a:ln/>
        </p:spPr>
        <p:txBody>
          <a:bodyPr wrap="square" lIns="0" tIns="0" rIns="0" bIns="0" rtlCol="0" anchor="ctr"/>
          <a:lstStyle/>
          <a:p>
            <a:pPr indent="0" marL="0">
              <a:buNone/>
            </a:pPr>
            <a:r>
              <a:rPr lang="en-US" sz="1900" b="1" dirty="0">
                <a:solidFill>
                  <a:srgbClr val="1A2E29"/>
                </a:solidFill>
                <a:latin typeface="Calibri" pitchFamily="34" charset="0"/>
                <a:ea typeface="Calibri" pitchFamily="34" charset="-122"/>
                <a:cs typeface="Calibri" pitchFamily="34" charset="-120"/>
              </a:rPr>
              <a:t>Comparison &amp; results   </a:t>
            </a:r>
            <a:pPr indent="0" marL="0">
              <a:buNone/>
            </a:pPr>
            <a:r>
              <a:rPr lang="en-US" sz="1400" dirty="0">
                <a:solidFill>
                  <a:srgbClr val="5B6B66"/>
                </a:solidFill>
                <a:latin typeface="Calibri" pitchFamily="34" charset="0"/>
                <a:ea typeface="Calibri" pitchFamily="34" charset="-122"/>
                <a:cs typeface="Calibri" pitchFamily="34" charset="-120"/>
              </a:rPr>
              <a:t>BayesFlow vs exact Forward–Backward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From amino-acid sequence to α-helix</a:t>
            </a:r>
            <a:endParaRPr lang="en-US" sz="2700" dirty="0"/>
          </a:p>
        </p:txBody>
      </p:sp>
      <p:sp>
        <p:nvSpPr>
          <p:cNvPr id="6" name="Text 4"/>
          <p:cNvSpPr/>
          <p:nvPr/>
        </p:nvSpPr>
        <p:spPr>
          <a:xfrm>
            <a:off x="502920" y="1828800"/>
            <a:ext cx="6126480" cy="3840480"/>
          </a:xfrm>
          <a:prstGeom prst="rect">
            <a:avLst/>
          </a:prstGeom>
          <a:noFill/>
          <a:ln/>
        </p:spPr>
        <p:txBody>
          <a:bodyPr wrap="square" rtlCol="0" anchor="t"/>
          <a:lstStyle/>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Proteins fold; the local shape is the secondary structure (helix / sheet / coil).</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We predict one thing: is each residue an α-helix, or 'other'?</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Solving 3-D structure needs X-ray / NMR — expensive; we want it from sequence.</a:t>
            </a:r>
            <a:endParaRPr lang="en-US" sz="1500" dirty="0"/>
          </a:p>
          <a:p>
            <a:pPr marL="177800" indent="-177800">
              <a:spcAft>
                <a:spcPts val="800"/>
              </a:spcAft>
              <a:buSzPct val="100000"/>
              <a:buChar char="•"/>
            </a:pPr>
            <a:r>
              <a:rPr lang="en-US" sz="1500" dirty="0">
                <a:solidFill>
                  <a:srgbClr val="1A2E29"/>
                </a:solidFill>
                <a:latin typeface="Calibri" pitchFamily="34" charset="0"/>
                <a:ea typeface="Calibri" pitchFamily="34" charset="-122"/>
                <a:cs typeface="Calibri" pitchFamily="34" charset="-120"/>
              </a:rPr>
              <a:t>Our statistical model: a two-state Hidden Markov Model.</a:t>
            </a:r>
            <a:endParaRPr lang="en-US" sz="1500" dirty="0"/>
          </a:p>
        </p:txBody>
      </p:sp>
      <p:sp>
        <p:nvSpPr>
          <p:cNvPr id="7" name="Shape 5"/>
          <p:cNvSpPr/>
          <p:nvPr/>
        </p:nvSpPr>
        <p:spPr>
          <a:xfrm>
            <a:off x="7040880" y="1965960"/>
            <a:ext cx="4572000" cy="868680"/>
          </a:xfrm>
          <a:prstGeom prst="roundRect">
            <a:avLst>
              <a:gd name="adj" fmla="val 12632"/>
            </a:avLst>
          </a:prstGeom>
          <a:solidFill>
            <a:srgbClr val="1D9E75"/>
          </a:solidFill>
          <a:ln/>
        </p:spPr>
      </p:sp>
      <p:sp>
        <p:nvSpPr>
          <p:cNvPr id="8" name="Text 6"/>
          <p:cNvSpPr/>
          <p:nvPr/>
        </p:nvSpPr>
        <p:spPr>
          <a:xfrm>
            <a:off x="7040880" y="1965960"/>
            <a:ext cx="457200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α-helix  =  state “H”</a:t>
            </a:r>
            <a:endParaRPr lang="en-US" sz="2000" dirty="0"/>
          </a:p>
        </p:txBody>
      </p:sp>
      <p:sp>
        <p:nvSpPr>
          <p:cNvPr id="9" name="Shape 7"/>
          <p:cNvSpPr/>
          <p:nvPr/>
        </p:nvSpPr>
        <p:spPr>
          <a:xfrm>
            <a:off x="7040880" y="3017520"/>
            <a:ext cx="4572000" cy="868680"/>
          </a:xfrm>
          <a:prstGeom prst="roundRect">
            <a:avLst>
              <a:gd name="adj" fmla="val 12632"/>
            </a:avLst>
          </a:prstGeom>
          <a:solidFill>
            <a:srgbClr val="D3D1C7"/>
          </a:solidFill>
          <a:ln/>
        </p:spPr>
      </p:sp>
      <p:sp>
        <p:nvSpPr>
          <p:cNvPr id="10" name="Text 8"/>
          <p:cNvSpPr/>
          <p:nvPr/>
        </p:nvSpPr>
        <p:spPr>
          <a:xfrm>
            <a:off x="7040880" y="3017520"/>
            <a:ext cx="4572000" cy="868680"/>
          </a:xfrm>
          <a:prstGeom prst="rect">
            <a:avLst/>
          </a:prstGeom>
          <a:noFill/>
          <a:ln/>
        </p:spPr>
        <p:txBody>
          <a:bodyPr wrap="square" lIns="0" tIns="0" rIns="0" bIns="0" rtlCol="0" anchor="ctr"/>
          <a:lstStyle/>
          <a:p>
            <a:pPr algn="ctr" indent="0" marL="0">
              <a:buNone/>
            </a:pPr>
            <a:r>
              <a:rPr lang="en-US" sz="1800" b="1" dirty="0">
                <a:solidFill>
                  <a:srgbClr val="2B2A26"/>
                </a:solidFill>
                <a:latin typeface="Cambria" pitchFamily="34" charset="0"/>
                <a:ea typeface="Cambria" pitchFamily="34" charset="-122"/>
                <a:cs typeface="Cambria" pitchFamily="34" charset="-120"/>
              </a:rPr>
              <a:t>“other”  =  E B G I T S C</a:t>
            </a:r>
            <a:endParaRPr lang="en-US" sz="1800" dirty="0"/>
          </a:p>
        </p:txBody>
      </p:sp>
      <p:sp>
        <p:nvSpPr>
          <p:cNvPr id="11" name="Shape 9"/>
          <p:cNvSpPr/>
          <p:nvPr/>
        </p:nvSpPr>
        <p:spPr>
          <a:xfrm>
            <a:off x="7040880" y="4114800"/>
            <a:ext cx="4572000" cy="1280160"/>
          </a:xfrm>
          <a:prstGeom prst="roundRect">
            <a:avLst>
              <a:gd name="adj" fmla="val 7143"/>
            </a:avLst>
          </a:prstGeom>
          <a:solidFill>
            <a:srgbClr val="EAF5F0"/>
          </a:solidFill>
          <a:ln/>
        </p:spPr>
      </p:sp>
      <p:sp>
        <p:nvSpPr>
          <p:cNvPr id="12" name="Text 10"/>
          <p:cNvSpPr/>
          <p:nvPr/>
        </p:nvSpPr>
        <p:spPr>
          <a:xfrm>
            <a:off x="7269480" y="4206240"/>
            <a:ext cx="4114800" cy="1097280"/>
          </a:xfrm>
          <a:prstGeom prst="rect">
            <a:avLst/>
          </a:prstGeom>
          <a:noFill/>
          <a:ln/>
        </p:spPr>
        <p:txBody>
          <a:bodyPr wrap="square" lIns="0" tIns="0" rIns="0" bIns="0" rtlCol="0" anchor="ctr"/>
          <a:lstStyle/>
          <a:p>
            <a:pPr indent="0" marL="0">
              <a:buNone/>
            </a:pPr>
            <a:r>
              <a:rPr lang="en-US" sz="1300" b="1" dirty="0">
                <a:solidFill>
                  <a:srgbClr val="0F6E56"/>
                </a:solidFill>
                <a:latin typeface="Calibri" pitchFamily="34" charset="0"/>
                <a:ea typeface="Calibri" pitchFamily="34" charset="-122"/>
                <a:cs typeface="Calibri" pitchFamily="34" charset="-120"/>
              </a:rPr>
              <a:t>Mapping decision
</a:t>
            </a:r>
            <a:endParaRPr lang="en-US" sz="1300" dirty="0"/>
          </a:p>
          <a:p>
            <a:pPr indent="0" marL="0">
              <a:buNone/>
            </a:pPr>
            <a:r>
              <a:rPr lang="en-US" sz="1250" dirty="0">
                <a:solidFill>
                  <a:srgbClr val="1A2E29"/>
                </a:solidFill>
                <a:latin typeface="Calibri" pitchFamily="34" charset="0"/>
                <a:ea typeface="Calibri" pitchFamily="34" charset="-122"/>
                <a:cs typeface="Calibri" pitchFamily="34" charset="-120"/>
              </a:rPr>
              <a:t>DSSP labels each residue with 8 states. We keep only H as helix (strict α-helix); the other 7 → other.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The generative model: a two-state HMM</a:t>
            </a:r>
            <a:endParaRPr lang="en-US" sz="2700" dirty="0"/>
          </a:p>
        </p:txBody>
      </p:sp>
      <p:pic>
        <p:nvPicPr>
          <p:cNvPr id="6" name="Image 0" descr="D:/SBI/hmm_explainer/1_two_state_hmm.png">    </p:cNvPr>
          <p:cNvPicPr>
            <a:picLocks noChangeAspect="1"/>
          </p:cNvPicPr>
          <p:nvPr/>
        </p:nvPicPr>
        <p:blipFill>
          <a:blip r:embed="rId1"/>
          <a:stretch>
            <a:fillRect/>
          </a:stretch>
        </p:blipFill>
        <p:spPr>
          <a:xfrm>
            <a:off x="5349240" y="1783080"/>
            <a:ext cx="6217920" cy="3657600"/>
          </a:xfrm>
          <a:prstGeom prst="rect">
            <a:avLst/>
          </a:prstGeom>
        </p:spPr>
      </p:pic>
      <p:sp>
        <p:nvSpPr>
          <p:cNvPr id="7" name="Text 4"/>
          <p:cNvSpPr/>
          <p:nvPr/>
        </p:nvSpPr>
        <p:spPr>
          <a:xfrm>
            <a:off x="5349240" y="5486400"/>
            <a:ext cx="621792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1. Two-state HMM: start rule and transition probabilities.</a:t>
            </a:r>
            <a:endParaRPr lang="en-US" sz="1100" dirty="0"/>
          </a:p>
        </p:txBody>
      </p:sp>
      <p:sp>
        <p:nvSpPr>
          <p:cNvPr id="8" name="Text 5"/>
          <p:cNvSpPr/>
          <p:nvPr/>
        </p:nvSpPr>
        <p:spPr>
          <a:xfrm>
            <a:off x="502920" y="1874520"/>
            <a:ext cx="4572000" cy="3840480"/>
          </a:xfrm>
          <a:prstGeom prst="rect">
            <a:avLst/>
          </a:prstGeom>
          <a:noFill/>
          <a:ln/>
        </p:spPr>
        <p:txBody>
          <a:bodyPr wrap="square" rtlCol="0" anchor="t"/>
          <a:lstStyle/>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The chain always starts in “other”.</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Transitions: helix→helix 0.90, other→helix 0.05.</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So helices form ~10-residue runs, and are started rarely.</a:t>
            </a:r>
            <a:endParaRPr lang="en-US" sz="1450" dirty="0"/>
          </a:p>
          <a:p>
            <a:pPr marL="177800" indent="-177800">
              <a:spcAft>
                <a:spcPts val="800"/>
              </a:spcAft>
              <a:buSzPct val="100000"/>
              <a:buChar char="•"/>
            </a:pPr>
            <a:r>
              <a:rPr lang="en-US" sz="1450" dirty="0">
                <a:solidFill>
                  <a:srgbClr val="1A2E29"/>
                </a:solidFill>
                <a:latin typeface="Calibri" pitchFamily="34" charset="0"/>
                <a:ea typeface="Calibri" pitchFamily="34" charset="-122"/>
                <a:cs typeface="Calibri" pitchFamily="34" charset="-120"/>
              </a:rPr>
              <a:t>Realistic: real data gives 0.912 and 0.041 (see next slide).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THE QUESTION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Emissions — and are they realistic?</a:t>
            </a:r>
            <a:endParaRPr lang="en-US" sz="2700" dirty="0"/>
          </a:p>
        </p:txBody>
      </p:sp>
      <p:pic>
        <p:nvPicPr>
          <p:cNvPr id="6" name="Image 0" descr="D:/SBI/hmm_explainer/2_emission_probabilities.png">    </p:cNvPr>
          <p:cNvPicPr>
            <a:picLocks noChangeAspect="1"/>
          </p:cNvPicPr>
          <p:nvPr/>
        </p:nvPicPr>
        <p:blipFill>
          <a:blip r:embed="rId1"/>
          <a:stretch>
            <a:fillRect/>
          </a:stretch>
        </p:blipFill>
        <p:spPr>
          <a:xfrm>
            <a:off x="2697480" y="1691640"/>
            <a:ext cx="6812280" cy="3163824"/>
          </a:xfrm>
          <a:prstGeom prst="rect">
            <a:avLst/>
          </a:prstGeom>
        </p:spPr>
      </p:pic>
      <p:sp>
        <p:nvSpPr>
          <p:cNvPr id="7" name="Text 4"/>
          <p:cNvSpPr/>
          <p:nvPr/>
        </p:nvSpPr>
        <p:spPr>
          <a:xfrm>
            <a:off x="2697480" y="4892040"/>
            <a:ext cx="6812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2. Per-state amino-acid emission probabilities (α-helix vs other).</a:t>
            </a:r>
            <a:endParaRPr lang="en-US" sz="1100" dirty="0"/>
          </a:p>
        </p:txBody>
      </p:sp>
      <p:sp>
        <p:nvSpPr>
          <p:cNvPr id="8" name="Shape 5"/>
          <p:cNvSpPr/>
          <p:nvPr/>
        </p:nvSpPr>
        <p:spPr>
          <a:xfrm>
            <a:off x="502920" y="5394960"/>
            <a:ext cx="11155680" cy="1051560"/>
          </a:xfrm>
          <a:prstGeom prst="roundRect">
            <a:avLst>
              <a:gd name="adj" fmla="val 8696"/>
            </a:avLst>
          </a:prstGeom>
          <a:solidFill>
            <a:srgbClr val="EAF5F0"/>
          </a:solidFill>
          <a:ln/>
        </p:spPr>
      </p:sp>
      <p:sp>
        <p:nvSpPr>
          <p:cNvPr id="9" name="Text 6"/>
          <p:cNvSpPr/>
          <p:nvPr/>
        </p:nvSpPr>
        <p:spPr>
          <a:xfrm>
            <a:off x="777240" y="5394960"/>
            <a:ext cx="10607040" cy="1051560"/>
          </a:xfrm>
          <a:prstGeom prst="rect">
            <a:avLst/>
          </a:prstGeom>
          <a:noFill/>
          <a:ln/>
        </p:spPr>
        <p:txBody>
          <a:bodyPr wrap="square" lIns="0" tIns="0" rIns="0" bIns="0" rtlCol="0" anchor="ctr"/>
          <a:lstStyle/>
          <a:p>
            <a:pPr indent="0" marL="0">
              <a:buNone/>
            </a:pPr>
            <a:r>
              <a:rPr lang="en-US" sz="1350" b="1" dirty="0">
                <a:solidFill>
                  <a:srgbClr val="0F6E56"/>
                </a:solidFill>
                <a:latin typeface="Calibri" pitchFamily="34" charset="0"/>
                <a:ea typeface="Calibri" pitchFamily="34" charset="-122"/>
                <a:cs typeface="Calibri" pitchFamily="34" charset="-120"/>
              </a:rPr>
              <a:t>Model checks out against real data:   </a:t>
            </a:r>
            <a:pPr indent="0" marL="0">
              <a:buNone/>
            </a:pPr>
            <a:r>
              <a:rPr lang="en-US" sz="1300" dirty="0">
                <a:solidFill>
                  <a:srgbClr val="1A2E29"/>
                </a:solidFill>
                <a:latin typeface="Calibri" pitchFamily="34" charset="0"/>
                <a:ea typeface="Calibri" pitchFamily="34" charset="-122"/>
                <a:cs typeface="Calibri" pitchFamily="34" charset="-120"/>
              </a:rPr>
              <a:t>P(helix→helix) 0.912 vs 0.90   ·   P(other→helix) 0.041 vs 0.05   ·   mean helix run 11.4 vs 10   ·   100% of real chains start in “other”.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FORWARD–BACKWARD</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Notebooks 1–2: simulate, then get exact targets</a:t>
            </a:r>
            <a:endParaRPr lang="en-US" sz="2700" dirty="0"/>
          </a:p>
        </p:txBody>
      </p:sp>
      <p:pic>
        <p:nvPicPr>
          <p:cNvPr id="6" name="Image 0" descr="D:/SBI/hmm_explainer/3_bayesflow_pipeline.png">    </p:cNvPr>
          <p:cNvPicPr>
            <a:picLocks noChangeAspect="1"/>
          </p:cNvPicPr>
          <p:nvPr/>
        </p:nvPicPr>
        <p:blipFill>
          <a:blip r:embed="rId1"/>
          <a:stretch>
            <a:fillRect/>
          </a:stretch>
        </p:blipFill>
        <p:spPr>
          <a:xfrm>
            <a:off x="5806440" y="1691640"/>
            <a:ext cx="5715000" cy="3657600"/>
          </a:xfrm>
          <a:prstGeom prst="rect">
            <a:avLst/>
          </a:prstGeom>
        </p:spPr>
      </p:pic>
      <p:sp>
        <p:nvSpPr>
          <p:cNvPr id="7" name="Text 4"/>
          <p:cNvSpPr/>
          <p:nvPr/>
        </p:nvSpPr>
        <p:spPr>
          <a:xfrm>
            <a:off x="5806440" y="5394960"/>
            <a:ext cx="571500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3. Full pipeline: simulator → Forward–Backward → BayesFlow → evaluation.</a:t>
            </a:r>
            <a:endParaRPr lang="en-US" sz="1100" dirty="0"/>
          </a:p>
        </p:txBody>
      </p:sp>
      <p:sp>
        <p:nvSpPr>
          <p:cNvPr id="8" name="Text 5"/>
          <p:cNvSpPr/>
          <p:nvPr/>
        </p:nvSpPr>
        <p:spPr>
          <a:xfrm>
            <a:off x="502920" y="1828800"/>
            <a:ext cx="5120640" cy="3931920"/>
          </a:xfrm>
          <a:prstGeom prst="rect">
            <a:avLst/>
          </a:prstGeom>
          <a:noFill/>
          <a:ln/>
        </p:spPr>
        <p:txBody>
          <a:bodyPr wrap="square" rtlCol="0" anchor="t"/>
          <a:lstStyle/>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Simulate 100,000 chains; lengths sampled from real PISCES (median 208).</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Run Forward–Backward (hmmlearn) → exact P(helix) per residue = training targets.</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24.3M residues — the exact Bayesian “answer key”.</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Checks: mean P 0.324; residue-0 = 0; recovers hidden states at the Bayes ceiling (AUC 0.79).</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BAYESFLOW</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Turning a variable-length chain into a fixed input</a:t>
            </a:r>
            <a:endParaRPr lang="en-US" sz="2700" dirty="0"/>
          </a:p>
        </p:txBody>
      </p:sp>
      <p:pic>
        <p:nvPicPr>
          <p:cNvPr id="6" name="Image 0" descr="D:/SBI/restart/bayesflow_window_schematic.png">    </p:cNvPr>
          <p:cNvPicPr>
            <a:picLocks noChangeAspect="1"/>
          </p:cNvPicPr>
          <p:nvPr/>
        </p:nvPicPr>
        <p:blipFill>
          <a:blip r:embed="rId1"/>
          <a:stretch>
            <a:fillRect/>
          </a:stretch>
        </p:blipFill>
        <p:spPr>
          <a:xfrm>
            <a:off x="1691640" y="1645920"/>
            <a:ext cx="8778240" cy="3474720"/>
          </a:xfrm>
          <a:prstGeom prst="rect">
            <a:avLst/>
          </a:prstGeom>
        </p:spPr>
      </p:pic>
      <p:sp>
        <p:nvSpPr>
          <p:cNvPr id="7" name="Text 4"/>
          <p:cNvSpPr/>
          <p:nvPr/>
        </p:nvSpPr>
        <p:spPr>
          <a:xfrm>
            <a:off x="1691640" y="5120640"/>
            <a:ext cx="87782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4. Sliding 31-residue window → one-hot encoding → CouplingFlow posterior.</a:t>
            </a:r>
            <a:endParaRPr lang="en-US" sz="1100" dirty="0"/>
          </a:p>
        </p:txBody>
      </p:sp>
      <p:sp>
        <p:nvSpPr>
          <p:cNvPr id="8" name="Text 5"/>
          <p:cNvSpPr/>
          <p:nvPr/>
        </p:nvSpPr>
        <p:spPr>
          <a:xfrm>
            <a:off x="502920" y="5486400"/>
            <a:ext cx="11155680" cy="1280160"/>
          </a:xfrm>
          <a:prstGeom prst="rect">
            <a:avLst/>
          </a:prstGeom>
          <a:noFill/>
          <a:ln/>
        </p:spPr>
        <p:txBody>
          <a:bodyPr wrap="square" rtlCol="0" anchor="t"/>
          <a:lstStyle/>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A flow needs a fixed-size target → predict one residue from a fixed 31-residue window (±15), slid along the chain.</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Encode the window as one-hot: 31 × 21 channels = 20 amino acids + 1 padding (for chain ends).</a:t>
            </a:r>
            <a:endParaRPr lang="en-US" sz="1250" dirty="0"/>
          </a:p>
          <a:p>
            <a:pPr marL="177800" indent="-177800">
              <a:spcAft>
                <a:spcPts val="800"/>
              </a:spcAft>
              <a:buSzPct val="100000"/>
              <a:buChar char="•"/>
            </a:pPr>
            <a:r>
              <a:rPr lang="en-US" sz="1250" dirty="0">
                <a:solidFill>
                  <a:srgbClr val="1A2E29"/>
                </a:solidFill>
                <a:latin typeface="Calibri" pitchFamily="34" charset="0"/>
                <a:ea typeface="Calibri" pitchFamily="34" charset="-122"/>
                <a:cs typeface="Calibri" pitchFamily="34" charset="-120"/>
              </a:rPr>
              <a:t>The window is only local → the answer stays uncertain → a genuine posterior (mean ± std), not a point estimate.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BAYESFLOW</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How we trained it</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6858000" cy="914400"/>
        </p:xfrm>
        <a:graphic>
          <a:graphicData uri="http://schemas.openxmlformats.org/drawingml/2006/table">
            <a:tbl>
              <a:tblPr/>
              <a:tblGrid>
                <a:gridCol w="2286000"/>
                <a:gridCol w="45720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Component</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0F6E56"/>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Choice  ·  why</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0F6E56"/>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Inference network</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CouplingFlow, depth 6, 256×256 subnets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Target θ (3-D)</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logit P(helix) at [prev, centre, next]</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Conditions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flattened 31×21 = 651 one-hot window</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Training data</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300,000 windows from 15,000 chains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Optimizer / epochs</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c>
                  <a:txBody>
                    <a:bodyPr/>
                    <a:lstStyle/>
                    <a:p>
                      <a:pPr indent="0" marL="0">
                        <a:buNone/>
                      </a:pPr>
                      <a:r>
                        <a:rPr lang="en-US" sz="1300" dirty="0">
                          <a:solidFill>
                            <a:srgbClr val="1A2E29"/>
                          </a:solidFill>
                          <a:latin typeface="Calibri" pitchFamily="34" charset="0"/>
                          <a:ea typeface="Calibri" pitchFamily="34" charset="-122"/>
                          <a:cs typeface="Calibri" pitchFamily="34" charset="-120"/>
                        </a:rPr>
                        <a:t>Adam · 30 epochs · batch 512</a:t>
                      </a:r>
                      <a:endParaRPr lang="en-US" sz="1300" dirty="0">
                        <a:latin typeface="Calibri" charset="0"/>
                        <a:ea typeface="Calibri" charset="0"/>
                        <a:cs typeface="Calibri" charset="0"/>
                      </a:endParaRPr>
                    </a:p>
                  </a:txBody>
                  <a:tcPr marL="91440" marR="91440" marT="45720" marB="45720" anchor="ctr">
                    <a:lnL w="6350" cap="flat" cmpd="sng" algn="ctr">
                      <a:solidFill>
                        <a:srgbClr val="D8E4DF"/>
                      </a:solidFill>
                      <a:prstDash val="solid"/>
                      <a:round/>
                      <a:headEnd type="none" w="med" len="med"/>
                      <a:tailEnd type="none" w="med" len="med"/>
                    </a:lnL>
                    <a:lnR w="6350" cap="flat" cmpd="sng" algn="ctr">
                      <a:solidFill>
                        <a:srgbClr val="D8E4DF"/>
                      </a:solidFill>
                      <a:prstDash val="solid"/>
                      <a:round/>
                      <a:headEnd type="none" w="med" len="med"/>
                      <a:tailEnd type="none" w="med" len="med"/>
                    </a:lnR>
                    <a:lnT w="6350" cap="flat" cmpd="sng" algn="ctr">
                      <a:solidFill>
                        <a:srgbClr val="D8E4DF"/>
                      </a:solidFill>
                      <a:prstDash val="solid"/>
                      <a:round/>
                      <a:headEnd type="none" w="med" len="med"/>
                      <a:tailEnd type="none" w="med" len="med"/>
                    </a:lnT>
                    <a:lnB w="6350" cap="flat" cmpd="sng" algn="ctr">
                      <a:solidFill>
                        <a:srgbClr val="D8E4DF"/>
                      </a:solidFill>
                      <a:prstDash val="solid"/>
                      <a:round/>
                      <a:headEnd type="none" w="med" len="med"/>
                      <a:tailEnd type="none" w="med" len="med"/>
                    </a:lnB>
                    <a:solidFill>
                      <a:srgbClr val="FFFFFF"/>
                    </a:solidFill>
                  </a:tcPr>
                </a:tc>
              </a:tr>
            </a:tbl>
          </a:graphicData>
        </a:graphic>
      </p:graphicFrame>
      <p:sp>
        <p:nvSpPr>
          <p:cNvPr id="7" name="Shape 4"/>
          <p:cNvSpPr/>
          <p:nvPr/>
        </p:nvSpPr>
        <p:spPr>
          <a:xfrm>
            <a:off x="7680960" y="1874520"/>
            <a:ext cx="3977640" cy="1600200"/>
          </a:xfrm>
          <a:prstGeom prst="roundRect">
            <a:avLst>
              <a:gd name="adj" fmla="val 5714"/>
            </a:avLst>
          </a:prstGeom>
          <a:solidFill>
            <a:srgbClr val="EAF5F0"/>
          </a:solidFill>
          <a:ln/>
        </p:spPr>
      </p:sp>
      <p:sp>
        <p:nvSpPr>
          <p:cNvPr id="8" name="Text 5"/>
          <p:cNvSpPr/>
          <p:nvPr/>
        </p:nvSpPr>
        <p:spPr>
          <a:xfrm>
            <a:off x="7909560" y="2011680"/>
            <a:ext cx="3566160" cy="1371600"/>
          </a:xfrm>
          <a:prstGeom prst="rect">
            <a:avLst/>
          </a:prstGeom>
          <a:noFill/>
          <a:ln/>
        </p:spPr>
        <p:txBody>
          <a:bodyPr wrap="square" lIns="0" tIns="0" rIns="0" bIns="0" rtlCol="0" anchor="t"/>
          <a:lstStyle/>
          <a:p>
            <a:pPr indent="0" marL="0">
              <a:buNone/>
            </a:pPr>
            <a:r>
              <a:rPr lang="en-US" sz="1400" b="1" dirty="0">
                <a:solidFill>
                  <a:srgbClr val="0F6E56"/>
                </a:solidFill>
                <a:latin typeface="Calibri" pitchFamily="34" charset="0"/>
                <a:ea typeface="Calibri" pitchFamily="34" charset="-122"/>
                <a:cs typeface="Calibri" pitchFamily="34" charset="-120"/>
              </a:rPr>
              <a:t>No leakage (verified)
</a:t>
            </a:r>
            <a:endParaRPr lang="en-US" sz="1400" dirty="0"/>
          </a:p>
          <a:p>
            <a:pPr indent="0" marL="0">
              <a:buNone/>
            </a:pPr>
            <a:r>
              <a:rPr lang="en-US" sz="1200" dirty="0">
                <a:solidFill>
                  <a:srgbClr val="1A2E29"/>
                </a:solidFill>
                <a:latin typeface="Calibri" pitchFamily="34" charset="0"/>
                <a:ea typeface="Calibri" pitchFamily="34" charset="-122"/>
                <a:cs typeface="Calibri" pitchFamily="34" charset="-120"/>
              </a:rPr>
              <a:t>Train = front block [0, 15000); validation = tail block [99500, 100000). Disjoint indices AND 0 shared sequences — asserted at runtime.</a:t>
            </a:r>
            <a:endParaRPr lang="en-US" sz="1400" dirty="0"/>
          </a:p>
        </p:txBody>
      </p:sp>
      <p:sp>
        <p:nvSpPr>
          <p:cNvPr id="9" name="Shape 6"/>
          <p:cNvSpPr/>
          <p:nvPr/>
        </p:nvSpPr>
        <p:spPr>
          <a:xfrm>
            <a:off x="7680960" y="3657600"/>
            <a:ext cx="3977640" cy="1508760"/>
          </a:xfrm>
          <a:prstGeom prst="roundRect">
            <a:avLst>
              <a:gd name="adj" fmla="val 6061"/>
            </a:avLst>
          </a:prstGeom>
          <a:solidFill>
            <a:srgbClr val="0F6E56"/>
          </a:solidFill>
          <a:ln/>
        </p:spPr>
      </p:sp>
      <p:sp>
        <p:nvSpPr>
          <p:cNvPr id="10" name="Text 7"/>
          <p:cNvSpPr/>
          <p:nvPr/>
        </p:nvSpPr>
        <p:spPr>
          <a:xfrm>
            <a:off x="7909560" y="3794760"/>
            <a:ext cx="3566160" cy="1280160"/>
          </a:xfrm>
          <a:prstGeom prst="rect">
            <a:avLst/>
          </a:prstGeom>
          <a:noFill/>
          <a:ln/>
        </p:spPr>
        <p:txBody>
          <a:bodyPr wrap="square" lIns="0" tIns="0" rIns="0" bIns="0" rtlCol="0" anchor="t"/>
          <a:lstStyle/>
          <a:p>
            <a:pPr indent="0" marL="0">
              <a:buNone/>
            </a:pPr>
            <a:r>
              <a:rPr lang="en-US" sz="1400" b="1" dirty="0">
                <a:solidFill>
                  <a:srgbClr val="8FE3C6"/>
                </a:solidFill>
                <a:latin typeface="Calibri" pitchFamily="34" charset="0"/>
                <a:ea typeface="Calibri" pitchFamily="34" charset="-122"/>
                <a:cs typeface="Calibri" pitchFamily="34" charset="-120"/>
              </a:rPr>
              <a:t>Why a window?
</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One trained model does inference for a chain of ANY length — just slide the window. Amortized: no re-fitting per protein.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INSULIN &amp; REAL EVALUATION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Held-out real protein: human insulin (1A7F)</a:t>
            </a:r>
            <a:endParaRPr lang="en-US" sz="2700" dirty="0"/>
          </a:p>
        </p:txBody>
      </p:sp>
      <p:pic>
        <p:nvPicPr>
          <p:cNvPr id="6" name="Image 0" descr="D:/SBI/restart/insulin_prediction.png">    </p:cNvPr>
          <p:cNvPicPr>
            <a:picLocks noChangeAspect="1"/>
          </p:cNvPicPr>
          <p:nvPr/>
        </p:nvPicPr>
        <p:blipFill>
          <a:blip r:embed="rId1"/>
          <a:stretch>
            <a:fillRect/>
          </a:stretch>
        </p:blipFill>
        <p:spPr>
          <a:xfrm>
            <a:off x="4800600" y="1737360"/>
            <a:ext cx="6720840" cy="4151376"/>
          </a:xfrm>
          <a:prstGeom prst="rect">
            <a:avLst/>
          </a:prstGeom>
        </p:spPr>
      </p:pic>
      <p:sp>
        <p:nvSpPr>
          <p:cNvPr id="7" name="Text 4"/>
          <p:cNvSpPr/>
          <p:nvPr/>
        </p:nvSpPr>
        <p:spPr>
          <a:xfrm>
            <a:off x="4800600" y="5897880"/>
            <a:ext cx="67208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5. Insulin P(helix): BayesFlow (green) vs exact FB (black); gold band = true helix.</a:t>
            </a:r>
            <a:endParaRPr lang="en-US" sz="1100" dirty="0"/>
          </a:p>
        </p:txBody>
      </p:sp>
      <p:sp>
        <p:nvSpPr>
          <p:cNvPr id="8" name="Text 5"/>
          <p:cNvSpPr/>
          <p:nvPr/>
        </p:nvSpPr>
        <p:spPr>
          <a:xfrm>
            <a:off x="457200" y="1828800"/>
            <a:ext cx="4206240" cy="3931920"/>
          </a:xfrm>
          <a:prstGeom prst="rect">
            <a:avLst/>
          </a:prstGeom>
          <a:noFill/>
          <a:ln/>
        </p:spPr>
        <p:txBody>
          <a:bodyPr wrap="square" rtlCol="0" anchor="t"/>
          <a:lstStyle/>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Insulin + its true DSSP labels pulled straight from the dataset.</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Model trained ONLY on simulated data → insulin is genuinely unseen (no leakage).</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P(helix) rises inside the annotated helix on both chains.</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AUC: chain A 0.97, chain B 0.98 — BayesFlow = exact FB.</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INSULIN &amp; REAL EVALUATION</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All real proteins (PISCES)</a:t>
            </a:r>
            <a:endParaRPr lang="en-US" sz="2700" dirty="0"/>
          </a:p>
        </p:txBody>
      </p:sp>
      <p:pic>
        <p:nvPicPr>
          <p:cNvPr id="6" name="Image 0" descr="D:/SBI/restart/real_eval_auc_hist.png">    </p:cNvPr>
          <p:cNvPicPr>
            <a:picLocks noChangeAspect="1"/>
          </p:cNvPicPr>
          <p:nvPr/>
        </p:nvPicPr>
        <p:blipFill>
          <a:blip r:embed="rId1"/>
          <a:stretch>
            <a:fillRect/>
          </a:stretch>
        </p:blipFill>
        <p:spPr>
          <a:xfrm>
            <a:off x="5760720" y="1828800"/>
            <a:ext cx="5669280" cy="3648456"/>
          </a:xfrm>
          <a:prstGeom prst="rect">
            <a:avLst/>
          </a:prstGeom>
        </p:spPr>
      </p:pic>
      <p:sp>
        <p:nvSpPr>
          <p:cNvPr id="7" name="Text 4"/>
          <p:cNvSpPr/>
          <p:nvPr/>
        </p:nvSpPr>
        <p:spPr>
          <a:xfrm>
            <a:off x="5760720" y="5532120"/>
            <a:ext cx="566928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6. Per-chain AUC over 8,308 real chains (those with both classes).</a:t>
            </a:r>
            <a:endParaRPr lang="en-US" sz="1100" dirty="0"/>
          </a:p>
        </p:txBody>
      </p:sp>
      <p:sp>
        <p:nvSpPr>
          <p:cNvPr id="8" name="Text 5"/>
          <p:cNvSpPr/>
          <p:nvPr/>
        </p:nvSpPr>
        <p:spPr>
          <a:xfrm>
            <a:off x="457200" y="1874520"/>
            <a:ext cx="5029200" cy="3931920"/>
          </a:xfrm>
          <a:prstGeom prst="rect">
            <a:avLst/>
          </a:prstGeom>
          <a:noFill/>
          <a:ln/>
        </p:spPr>
        <p:txBody>
          <a:bodyPr wrap="square" rtlCol="0" anchor="t"/>
          <a:lstStyle/>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Scored all 8,994 standard-AA chains (2.2M residues).</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Per-chain AUC 0.754; BayesFlow = exact FB.</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A simple HMM ranks helices meaningfully across the messy real proteome.</a:t>
            </a:r>
            <a:endParaRPr lang="en-US" sz="1400" dirty="0"/>
          </a:p>
          <a:p>
            <a:pPr marL="177800" indent="-177800">
              <a:spcAft>
                <a:spcPts val="800"/>
              </a:spcAft>
              <a:buSzPct val="100000"/>
              <a:buChar char="•"/>
            </a:pPr>
            <a:r>
              <a:rPr lang="en-US" sz="1400" dirty="0">
                <a:solidFill>
                  <a:srgbClr val="1A2E29"/>
                </a:solidFill>
                <a:latin typeface="Calibri" pitchFamily="34" charset="0"/>
                <a:ea typeface="Calibri" pitchFamily="34" charset="-122"/>
                <a:cs typeface="Calibri" pitchFamily="34" charset="-120"/>
              </a:rPr>
              <a:t>AUC &gt; accuracy: the HMM isn’t calibrated to reality → use ranking.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Result 1: the neural posterior reproduces exact inference</a:t>
            </a:r>
            <a:endParaRPr lang="en-US" sz="2700" dirty="0"/>
          </a:p>
        </p:txBody>
      </p:sp>
      <p:pic>
        <p:nvPicPr>
          <p:cNvPr id="6" name="Image 0" descr="D:/SBI/restart/validation_figure.png">    </p:cNvPr>
          <p:cNvPicPr>
            <a:picLocks noChangeAspect="1"/>
          </p:cNvPicPr>
          <p:nvPr/>
        </p:nvPicPr>
        <p:blipFill>
          <a:blip r:embed="rId1"/>
          <a:stretch>
            <a:fillRect/>
          </a:stretch>
        </p:blipFill>
        <p:spPr>
          <a:xfrm>
            <a:off x="1234440" y="1645920"/>
            <a:ext cx="9692640" cy="3730752"/>
          </a:xfrm>
          <a:prstGeom prst="rect">
            <a:avLst/>
          </a:prstGeom>
        </p:spPr>
      </p:pic>
      <p:sp>
        <p:nvSpPr>
          <p:cNvPr id="7" name="Text 4"/>
          <p:cNvSpPr/>
          <p:nvPr/>
        </p:nvSpPr>
        <p:spPr>
          <a:xfrm>
            <a:off x="1234440" y="5394960"/>
            <a:ext cx="969264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7. Left: BayesFlow mean vs exact FB (r=0.999). Right: an example chain with the ±1 std band.</a:t>
            </a:r>
            <a:endParaRPr lang="en-US" sz="1100" dirty="0"/>
          </a:p>
        </p:txBody>
      </p:sp>
      <p:sp>
        <p:nvSpPr>
          <p:cNvPr id="8" name="Text 5"/>
          <p:cNvSpPr/>
          <p:nvPr/>
        </p:nvSpPr>
        <p:spPr>
          <a:xfrm>
            <a:off x="640080" y="5943600"/>
            <a:ext cx="10972800" cy="640080"/>
          </a:xfrm>
          <a:prstGeom prst="rect">
            <a:avLst/>
          </a:prstGeom>
          <a:noFill/>
          <a:ln/>
        </p:spPr>
        <p:txBody>
          <a:bodyPr wrap="square" lIns="0" tIns="0" rIns="0" bIns="0" rtlCol="0" anchor="ctr"/>
          <a:lstStyle/>
          <a:p>
            <a:pPr algn="ctr" indent="0" marL="0">
              <a:buNone/>
            </a:pPr>
            <a:r>
              <a:rPr lang="en-US" sz="1400" b="1" dirty="0">
                <a:solidFill>
                  <a:srgbClr val="0F6E56"/>
                </a:solidFill>
                <a:latin typeface="Calibri" pitchFamily="34" charset="0"/>
                <a:ea typeface="Calibri" pitchFamily="34" charset="-122"/>
                <a:cs typeface="Calibri" pitchFamily="34" charset="-120"/>
              </a:rPr>
              <a:t>Held-out simulated chains: correlation 0.999, MAE 0.007.  </a:t>
            </a:r>
            <a:pPr algn="ctr" indent="0" marL="0">
              <a:buNone/>
            </a:pPr>
            <a:r>
              <a:rPr lang="en-US" sz="1400" dirty="0">
                <a:solidFill>
                  <a:srgbClr val="1A2E29"/>
                </a:solidFill>
                <a:latin typeface="Calibri" pitchFamily="34" charset="0"/>
                <a:ea typeface="Calibri" pitchFamily="34" charset="-122"/>
                <a:cs typeface="Calibri" pitchFamily="34" charset="-120"/>
              </a:rPr>
              <a:t>The fast neural posterior is interchangeable with slow HMM Forward–Backward.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Result 2: head-to-head across every setting</a:t>
            </a:r>
            <a:endParaRPr lang="en-US" sz="2700" dirty="0"/>
          </a:p>
        </p:txBody>
      </p:sp>
      <p:pic>
        <p:nvPicPr>
          <p:cNvPr id="6" name="Image 0" descr="D:/SBI/restart/comparison.png">    </p:cNvPr>
          <p:cNvPicPr>
            <a:picLocks noChangeAspect="1"/>
          </p:cNvPicPr>
          <p:nvPr/>
        </p:nvPicPr>
        <p:blipFill>
          <a:blip r:embed="rId1"/>
          <a:stretch>
            <a:fillRect/>
          </a:stretch>
        </p:blipFill>
        <p:spPr>
          <a:xfrm>
            <a:off x="1325880" y="1645920"/>
            <a:ext cx="9509760" cy="3803904"/>
          </a:xfrm>
          <a:prstGeom prst="rect">
            <a:avLst/>
          </a:prstGeom>
        </p:spPr>
      </p:pic>
      <p:sp>
        <p:nvSpPr>
          <p:cNvPr id="7" name="Text 4"/>
          <p:cNvSpPr/>
          <p:nvPr/>
        </p:nvSpPr>
        <p:spPr>
          <a:xfrm>
            <a:off x="1325880" y="5486400"/>
            <a:ext cx="950976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Fig 8. AUC and accuracy@0.5: BayesFlow vs exact FB across all four settings.</a:t>
            </a:r>
            <a:endParaRPr lang="en-US" sz="1100" dirty="0"/>
          </a:p>
        </p:txBody>
      </p:sp>
      <p:sp>
        <p:nvSpPr>
          <p:cNvPr id="8" name="Text 5"/>
          <p:cNvSpPr/>
          <p:nvPr/>
        </p:nvSpPr>
        <p:spPr>
          <a:xfrm>
            <a:off x="640080" y="5989320"/>
            <a:ext cx="10972800" cy="548640"/>
          </a:xfrm>
          <a:prstGeom prst="rect">
            <a:avLst/>
          </a:prstGeom>
          <a:noFill/>
          <a:ln/>
        </p:spPr>
        <p:txBody>
          <a:bodyPr wrap="square" lIns="0" tIns="0" rIns="0" bIns="0" rtlCol="0" anchor="ctr"/>
          <a:lstStyle/>
          <a:p>
            <a:pPr algn="ctr" indent="0" marL="0">
              <a:buNone/>
            </a:pPr>
            <a:r>
              <a:rPr lang="en-US" sz="1400" b="1" dirty="0">
                <a:solidFill>
                  <a:srgbClr val="0F6E56"/>
                </a:solidFill>
                <a:latin typeface="Calibri" pitchFamily="34" charset="0"/>
                <a:ea typeface="Calibri" pitchFamily="34" charset="-122"/>
                <a:cs typeface="Calibri" pitchFamily="34" charset="-120"/>
              </a:rPr>
              <a:t>BayesFlow and exact FB are identical everywhere.  </a:t>
            </a:r>
            <a:pPr algn="ctr" indent="0" marL="0">
              <a:buNone/>
            </a:pPr>
            <a:r>
              <a:rPr lang="en-US" sz="1400" dirty="0">
                <a:solidFill>
                  <a:srgbClr val="1A2E29"/>
                </a:solidFill>
                <a:latin typeface="Calibri" pitchFamily="34" charset="0"/>
                <a:ea typeface="Calibri" pitchFamily="34" charset="-122"/>
                <a:cs typeface="Calibri" pitchFamily="34" charset="-120"/>
              </a:rPr>
              <a:t>High on insulin’s textbook helices (0.97–0.98); ~0.75 across the real proteome.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ellipse">
            <a:avLst/>
          </a:prstGeom>
          <a:solidFill>
            <a:srgbClr val="1D9E75"/>
          </a:solidFill>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p:nvPr/>
        </p:nvSpPr>
        <p:spPr>
          <a:xfrm>
            <a:off x="1051560" y="329184"/>
            <a:ext cx="8229600" cy="438912"/>
          </a:xfrm>
          <a:prstGeom prst="rect">
            <a:avLst/>
          </a:prstGeom>
          <a:noFill/>
          <a:ln/>
        </p:spPr>
        <p:txBody>
          <a:bodyPr wrap="square" lIns="0" tIns="0" rIns="0" bIns="0" rtlCol="0" anchor="ctr"/>
          <a:lstStyle/>
          <a:p>
            <a:pPr indent="0" marL="0">
              <a:buNone/>
            </a:pPr>
            <a:r>
              <a:rPr lang="en-US" sz="1300" b="1" spc="200" kern="0" dirty="0">
                <a:solidFill>
                  <a:srgbClr val="1D9E75"/>
                </a:solidFill>
                <a:latin typeface="Calibri" pitchFamily="34" charset="0"/>
                <a:ea typeface="Calibri" pitchFamily="34" charset="-122"/>
                <a:cs typeface="Calibri" pitchFamily="34" charset="-120"/>
              </a:rPr>
              <a:t>COMPARISON &amp; RESULTS</a:t>
            </a:r>
            <a:endParaRPr lang="en-US" sz="1300" dirty="0"/>
          </a:p>
        </p:txBody>
      </p:sp>
      <p:sp>
        <p:nvSpPr>
          <p:cNvPr id="5" name="Text 3"/>
          <p:cNvSpPr/>
          <p:nvPr/>
        </p:nvSpPr>
        <p:spPr>
          <a:xfrm>
            <a:off x="457200" y="896112"/>
            <a:ext cx="11247120" cy="731520"/>
          </a:xfrm>
          <a:prstGeom prst="rect">
            <a:avLst/>
          </a:prstGeom>
          <a:noFill/>
          <a:ln/>
        </p:spPr>
        <p:txBody>
          <a:bodyPr wrap="square" lIns="0" tIns="0" rIns="0" bIns="0" rtlCol="0" anchor="ctr"/>
          <a:lstStyle/>
          <a:p>
            <a:pPr indent="0" marL="0">
              <a:buNone/>
            </a:pPr>
            <a:r>
              <a:rPr lang="en-US" sz="2700" b="1" dirty="0">
                <a:solidFill>
                  <a:srgbClr val="0F6E56"/>
                </a:solidFill>
                <a:latin typeface="Cambria" pitchFamily="34" charset="0"/>
                <a:ea typeface="Cambria" pitchFamily="34" charset="-122"/>
                <a:cs typeface="Cambria" pitchFamily="34" charset="-120"/>
              </a:rPr>
              <a:t>Results at a glance</a:t>
            </a:r>
            <a:endParaRPr lang="en-US" sz="2700" dirty="0"/>
          </a:p>
        </p:txBody>
      </p:sp>
      <p:pic>
        <p:nvPicPr>
          <p:cNvPr id="6" name="Image 0" descr="D:/SBI/restart/comparison_table.png">    </p:cNvPr>
          <p:cNvPicPr>
            <a:picLocks noChangeAspect="1"/>
          </p:cNvPicPr>
          <p:nvPr/>
        </p:nvPicPr>
        <p:blipFill>
          <a:blip r:embed="rId1"/>
          <a:stretch>
            <a:fillRect/>
          </a:stretch>
        </p:blipFill>
        <p:spPr>
          <a:xfrm>
            <a:off x="822960" y="1783080"/>
            <a:ext cx="10515600" cy="2670048"/>
          </a:xfrm>
          <a:prstGeom prst="rect">
            <a:avLst/>
          </a:prstGeom>
        </p:spPr>
      </p:pic>
      <p:sp>
        <p:nvSpPr>
          <p:cNvPr id="7" name="Text 4"/>
          <p:cNvSpPr/>
          <p:nvPr/>
        </p:nvSpPr>
        <p:spPr>
          <a:xfrm>
            <a:off x="822960" y="4572000"/>
            <a:ext cx="10515600" cy="457200"/>
          </a:xfrm>
          <a:prstGeom prst="rect">
            <a:avLst/>
          </a:prstGeom>
          <a:noFill/>
          <a:ln/>
        </p:spPr>
        <p:txBody>
          <a:bodyPr wrap="square" lIns="0" tIns="0" rIns="0" bIns="0" rtlCol="0" anchor="ctr"/>
          <a:lstStyle/>
          <a:p>
            <a:pPr algn="ctr" indent="0" marL="0">
              <a:buNone/>
            </a:pPr>
            <a:r>
              <a:rPr lang="en-US" sz="1100" i="1" dirty="0">
                <a:solidFill>
                  <a:srgbClr val="5B6B66"/>
                </a:solidFill>
                <a:latin typeface="Calibri" pitchFamily="34" charset="0"/>
                <a:ea typeface="Calibri" pitchFamily="34" charset="-122"/>
                <a:cs typeface="Calibri" pitchFamily="34" charset="-120"/>
              </a:rPr>
              <a:t>Table 1. AUC and accuracy@0.5 — BayesFlow vs exact Forward–Backward, all settings.</a:t>
            </a:r>
            <a:endParaRPr lang="en-US" sz="1100" dirty="0"/>
          </a:p>
        </p:txBody>
      </p:sp>
      <p:sp>
        <p:nvSpPr>
          <p:cNvPr id="8" name="Text 5"/>
          <p:cNvSpPr/>
          <p:nvPr/>
        </p:nvSpPr>
        <p:spPr>
          <a:xfrm>
            <a:off x="1280160" y="5029200"/>
            <a:ext cx="9692640" cy="1463040"/>
          </a:xfrm>
          <a:prstGeom prst="rect">
            <a:avLst/>
          </a:prstGeom>
          <a:noFill/>
          <a:ln/>
        </p:spPr>
        <p:txBody>
          <a:bodyPr wrap="square" rtlCol="0" anchor="t"/>
          <a:lstStyle/>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BayesFlow ≈ exact FB in every setting (AUC identical to 3 decimals).</a:t>
            </a:r>
            <a:endParaRPr lang="en-US" sz="1350" dirty="0"/>
          </a:p>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Both approach — never beat — the exact Bayesian answer (the AUC ceiling).</a:t>
            </a:r>
            <a:endParaRPr lang="en-US" sz="1350" dirty="0"/>
          </a:p>
          <a:p>
            <a:pPr marL="177800" indent="-177800">
              <a:spcAft>
                <a:spcPts val="800"/>
              </a:spcAft>
              <a:buSzPct val="100000"/>
              <a:buChar char="•"/>
            </a:pPr>
            <a:r>
              <a:rPr lang="en-US" sz="1350" dirty="0">
                <a:solidFill>
                  <a:srgbClr val="1A2E29"/>
                </a:solidFill>
                <a:latin typeface="Calibri" pitchFamily="34" charset="0"/>
                <a:ea typeface="Calibri" pitchFamily="34" charset="-122"/>
                <a:cs typeface="Calibri" pitchFamily="34" charset="-120"/>
              </a:rPr>
              <a:t>Accuracy &lt; AUC on real data: a calibration gap, expected for a fixed HMM.</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3B2E"/>
        </a:solidFill>
      </p:bgPr>
    </p:bg>
    <p:spTree>
      <p:nvGrpSpPr>
        <p:cNvPr id="1" name=""/>
        <p:cNvGrpSpPr/>
        <p:nvPr/>
      </p:nvGrpSpPr>
      <p:grpSpPr>
        <a:xfrm>
          <a:off x="0" y="0"/>
          <a:ext cx="0" cy="0"/>
          <a:chOff x="0" y="0"/>
          <a:chExt cx="0" cy="0"/>
        </a:xfrm>
      </p:grpSpPr>
      <p:sp>
        <p:nvSpPr>
          <p:cNvPr id="2" name="Text 0"/>
          <p:cNvSpPr/>
          <p:nvPr/>
        </p:nvSpPr>
        <p:spPr>
          <a:xfrm>
            <a:off x="8595360" y="182880"/>
            <a:ext cx="3657600" cy="6400800"/>
          </a:xfrm>
          <a:prstGeom prst="rect">
            <a:avLst/>
          </a:prstGeom>
          <a:noFill/>
          <a:ln/>
        </p:spPr>
        <p:txBody>
          <a:bodyPr wrap="square" lIns="0" tIns="0" rIns="0" bIns="0" rtlCol="0" anchor="ctr"/>
          <a:lstStyle/>
          <a:p>
            <a:pPr algn="ctr" indent="0" marL="0">
              <a:buNone/>
            </a:pPr>
            <a:r>
              <a:rPr lang="en-US" sz="34000" b="1" dirty="0">
                <a:solidFill>
                  <a:srgbClr val="13463A"/>
                </a:solidFill>
                <a:latin typeface="Cambria" pitchFamily="34" charset="0"/>
                <a:ea typeface="Cambria" pitchFamily="34" charset="-122"/>
                <a:cs typeface="Cambria" pitchFamily="34" charset="-120"/>
              </a:rPr>
              <a:t>α</a:t>
            </a:r>
            <a:endParaRPr lang="en-US" sz="34000" dirty="0"/>
          </a:p>
        </p:txBody>
      </p:sp>
      <p:sp>
        <p:nvSpPr>
          <p:cNvPr id="3" name="Text 1"/>
          <p:cNvSpPr/>
          <p:nvPr/>
        </p:nvSpPr>
        <p:spPr>
          <a:xfrm>
            <a:off x="640080" y="640080"/>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TL;DR — take-home message</a:t>
            </a:r>
            <a:endParaRPr lang="en-US" sz="3000" dirty="0"/>
          </a:p>
        </p:txBody>
      </p:sp>
      <p:sp>
        <p:nvSpPr>
          <p:cNvPr id="4" name="Text 2"/>
          <p:cNvSpPr/>
          <p:nvPr/>
        </p:nvSpPr>
        <p:spPr>
          <a:xfrm>
            <a:off x="685800" y="1600200"/>
            <a:ext cx="10607040" cy="3108960"/>
          </a:xfrm>
          <a:prstGeom prst="rect">
            <a:avLst/>
          </a:prstGeom>
          <a:noFill/>
          <a:ln/>
        </p:spPr>
        <p:txBody>
          <a:bodyPr wrap="square" rtlCol="0" anchor="t"/>
          <a:lstStyle/>
          <a:p>
            <a:pPr marL="177800" indent="-1778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α-helix modeled as a 2-state HMM whose transition probabilities match real proteins (0.912 vs 0.90).</a:t>
            </a:r>
            <a:endParaRPr lang="en-US" sz="1600" dirty="0"/>
          </a:p>
          <a:p>
            <a:pPr marL="177800" indent="-1778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Trained a BayesFlow amortized posterior on exact Forward–Backward targets via a sliding 31-residue window.</a:t>
            </a:r>
            <a:endParaRPr lang="en-US" sz="1600" dirty="0"/>
          </a:p>
          <a:p>
            <a:pPr marL="177800" indent="-1778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It reproduces exact FB almost perfectly (r = 0.999) — instant inference, no HMM at test time.</a:t>
            </a:r>
            <a:endParaRPr lang="en-US" sz="1600" dirty="0"/>
          </a:p>
          <a:p>
            <a:pPr marL="177800" indent="-177800">
              <a:buSzPct val="100000"/>
              <a:buChar char="•"/>
            </a:pPr>
            <a:r>
              <a:rPr lang="en-US" sz="1600" dirty="0">
                <a:solidFill>
                  <a:srgbClr val="FFFFFF"/>
                </a:solidFill>
                <a:latin typeface="Calibri" pitchFamily="34" charset="0"/>
                <a:ea typeface="Calibri" pitchFamily="34" charset="-122"/>
                <a:cs typeface="Calibri" pitchFamily="34" charset="-120"/>
              </a:rPr>
              <a:t>On unseen real proteins it ranks helices well (insulin 0.97–0.98; PISCES 0.75), bounded by the model’s Bayes ceiling.</a:t>
            </a:r>
            <a:endParaRPr lang="en-US" sz="1600" dirty="0"/>
          </a:p>
        </p:txBody>
      </p:sp>
      <p:sp>
        <p:nvSpPr>
          <p:cNvPr id="5" name="Shape 3"/>
          <p:cNvSpPr/>
          <p:nvPr/>
        </p:nvSpPr>
        <p:spPr>
          <a:xfrm>
            <a:off x="731520" y="5074920"/>
            <a:ext cx="2926080" cy="0"/>
          </a:xfrm>
          <a:prstGeom prst="line">
            <a:avLst/>
          </a:prstGeom>
          <a:noFill/>
          <a:ln w="25400">
            <a:solidFill>
              <a:srgbClr val="1D9E75"/>
            </a:solidFill>
            <a:prstDash val="solid"/>
          </a:ln>
        </p:spPr>
      </p:sp>
      <p:sp>
        <p:nvSpPr>
          <p:cNvPr id="6" name="Text 4"/>
          <p:cNvSpPr/>
          <p:nvPr/>
        </p:nvSpPr>
        <p:spPr>
          <a:xfrm>
            <a:off x="731520" y="5257800"/>
            <a:ext cx="10515600" cy="914400"/>
          </a:xfrm>
          <a:prstGeom prst="rect">
            <a:avLst/>
          </a:prstGeom>
          <a:noFill/>
          <a:ln/>
        </p:spPr>
        <p:txBody>
          <a:bodyPr wrap="square" lIns="0" tIns="0" rIns="0" bIns="0" rtlCol="0" anchor="ctr"/>
          <a:lstStyle/>
          <a:p>
            <a:pPr indent="0" marL="0">
              <a:buNone/>
            </a:pPr>
            <a:r>
              <a:rPr lang="en-US" sz="1500" b="1" dirty="0">
                <a:solidFill>
                  <a:srgbClr val="8FE3C6"/>
                </a:solidFill>
                <a:latin typeface="Calibri" pitchFamily="34" charset="0"/>
                <a:ea typeface="Calibri" pitchFamily="34" charset="-122"/>
                <a:cs typeface="Calibri" pitchFamily="34" charset="-120"/>
              </a:rPr>
              <a:t>Group [ number ]  ·  [ Member names ]
</a:t>
            </a:r>
            <a:endParaRPr lang="en-US" sz="1500" dirty="0"/>
          </a:p>
          <a:p>
            <a:pPr indent="0" marL="0">
              <a:buNone/>
            </a:pPr>
            <a:r>
              <a:rPr lang="en-US" sz="1300" dirty="0">
                <a:solidFill>
                  <a:srgbClr val="FFFFFF"/>
                </a:solidFill>
                <a:latin typeface="Calibri" pitchFamily="34" charset="0"/>
                <a:ea typeface="Calibri" pitchFamily="34" charset="-122"/>
                <a:cs typeface="Calibri" pitchFamily="34" charset="-120"/>
              </a:rPr>
              <a:t>[ email ]@tu-dortmund.de   ·   Simulation-Based Inference, TU Dortmund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alpha-helix secondary structure with a two-state HMM and BayesFlow</dc:title>
  <dc:subject>PptxGenJS Presentation</dc:subject>
  <dc:creator>SBI project</dc:creator>
  <cp:lastModifiedBy>SBI project</cp:lastModifiedBy>
  <cp:revision>1</cp:revision>
  <dcterms:created xsi:type="dcterms:W3CDTF">2026-07-05T18:31:10Z</dcterms:created>
  <dcterms:modified xsi:type="dcterms:W3CDTF">2026-07-05T18:31:10Z</dcterms:modified>
</cp:coreProperties>
</file>