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State the goal in one line: predict per-residue alpha-helix probability from an amino-acid sequence, using a fixed two-state HMM and a BayesFlow amortized posterior. Replace the group number and member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sections. Keep this to ~15 seconds — it just sets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and the exact prediction target. Emphasize the modeling choice: strict H-only helix definition (cleaner than merging G and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statistical model. Point at the self-loops (0.90 / 0.95) and the cross arrows (0.05 / 0.10). The 0.90 stay-probability is what makes helices come in runs. LIKELY QUESTION: 'where is your prior?' — the report spec demands explicit priors, but we infer no parameters. Answer: the prior is the induced distribution over hidden state paths p(z_1:T) given startprob=[0,1] and the transition matrix; the likelihood is the emission table. In the amortized setup the effective prior over theta is the marginal of logit-gamma induced by simulating chains and running FB — which is exactly what SBC ranks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state emits amino acids with its own propensities (helix loves A,L,E; breakers G,P favor other). We measured the empirical P(amino acid | DSSP H vs non-H) from real PISCES and overlaid it on the given tables: correlation 0.992 (helix) / 0.982 (other), max deviation 0.9 pp. Transitions match too. So both halves of the model are grounded in data. (The old 'transitions-only' evidence was a mismatch with this slide's title — now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Forward-Backward gives the exact posterior P(helix) for each residue given the whole chain. hmmlearn does this. These become the targets BayesFlow learns to emulate. The 0.79 AUC ceiling comes from overlapping emission tables — even exact inference can't separate helix/other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modeling idea. Flows need fixed dimensions, sequences vary, so we amortize one residue at a time through a fixed window and slide it. One-hot (not integer) because amino acids are categorical; padding marks chain edges. OWN THE MISMATCH: theta is gamma computed by FB from the WHOLE chain, but we condition on a 31-residue window — so the flow learns p(gamma_full | local window). Why that's harmless: the HMM's second eigenvalue is 1-0.10-0.05 = 0.85 (verified: eigenvalues are exactly [1.0, 0.85]), so message influence decays geometrically; at +/-15 residues 0.85^15 = 0.087, under 10%. Empirically, recomputing gamma from the window alone differs from full-chain gamma by a median of only 0.010. THIS is why r=0.999 is expected rather than evidence of leakage — have this ready, it is the obvious challenge to a near-perfect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Stress the disjoint train/val split — a natural question is 'how do you know there's no leakage?' Answer: front vs tail blocks, plus a runtime assert that no validation sequence appears in training. BIG-PICTURE QUESTION: 'why use SBI when hmmlearn FB already runs in milliseconds?' Do NOT answer 'it's faster' — that's weak. Answer: the tractability is deliberate. This is a benchmark where the exact posterior is known, which is the only way to VERIFY that an amortized neural posterior is faithful (r=0.999). In a real SBI problem the likelihood is intractable, so you could never run this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from an earlier version: 1A7F is a MUTANT insulin (B16E, B24G, des-B30) whose sparse A-chain annotation inflated the A-chain AUC to 0.97. We now use wild-type 1MSO. BE PRECISE ABOUT WHAT IS CLAIMABLE: bootstrap CIs (resampling residues) give B-chain 0.98 [0.93-1.00] -- robust, excludes chance -- but A-chain 0.53 [0.25-0.79], which straddles chance. So the B-chain success is a RESULT; the A-chain 'failure' is NOT statistically demonstrable from 21 residues. The disulfide/cysteine story is a hypothesis CONSISTENT with the data, not a proven mechanism. Say 'consistent with', not 'shows'. If asked how we'd test it properly: score many Cys-rich disulfide-stabilised helices across PISCES, not one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PISCES is the HEADLINE real-data result (thousands of chains, tight CI [0.750,0.756], 96.7% beat chance), because the brief only names insulin as an example. Insulin (next slide is actually slide 9, shown earlier) is a single illustrative protein, not the evidence base. BayesFlow tracks exact FB out of distribution; the honest real-world number is ~0.75 AUC for a deliberately simple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result 1: BayesFlow reproduces the exact posterior almost perfectly; the scatter hugging the diagonal is the money plot. PRE-EMPT the obvious challenge — 'r=0.999 looks too good, is something leaking?' No: the mixing argument from the windowing slide says influence decays as 0.85^k, so at +/-15 residues under 10% of the information lies outside the window. The window is nearly sufficient, so near-perfect agreement is the expected result. Also note train/val are disjoint chain blocks with a runtime assert.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slide for the SBI course. Story arc: (1) we ran real diagnostics — convergence, recovery, contraction, SBC. (2) SBC on the headline model fails by a tiny margin (~0.15 posterior SD, ~0.002 in probability). (3) We didn't hand-wave: we tested and refuted the clip-atom hypothesis (retrain without it — bias persists), then showed the failure is architecture-INVARIANT (coupling-3D and FlowMatching-1D fail at the same magnitude), which points to the estimand. (4) The estimand at W=31 is near-deterministic because the window is near-sufficient. (5) DECISIVE demo: shrink to W=7 -&gt; genuine posterior spread (sd 0.06-&gt;0.53) -&gt; SBC passes, at the cost of point accuracy (logit r 0.998-&gt;0.90). So calibration is a controllable property of the window size. Also: this used a proper 1D-CNN/GRU summary network (the canonical BayesFlow component), delivered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top-mark finding: it generalises the W=31-vs-W=7 point comparison (previous slide) into a full curve, and quantifies the accuracy&lt;-&gt;calibration trade-off with two scalar metrics. Key insight: calibration (SBC-KS) is a U-shaped function of window size, minimised around W=11-15, while point accuracy r rises monotonically. So there is a KNEE at W~15 where you get near-top accuracy (0.976) AND the best calibration — the headline W=31 model sacrificed calibration for a marginal accuracy gain it didn't need. This shows we understand the estimand deeply enough to choose an operating point, not just report one. Numbers: W=7 r0.87/KS0.063; W=11 0.95/0.052; W=15 0.98/0.047; W=21 0.99/0.118; W=31 0.998/0.146.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method columns are equal everywhere (faithful amortization). The added baseline column is the honest reading: on insulin the model never crosses P=0.5, so accuracy collapses to the baseline. Do NOT claim FB is a ceiling on real data — it isn't, because the HMM is misspecified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TL;DR. Land these four sentences. Be ready for questions on: what amortization buys you, why a normalizing flow, why AUC not accuracy, and the difference between Forward-Backward and Viterbi.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B2E"/>
        </a:solidFill>
      </p:bgPr>
    </p:bg>
    <p:spTree>
      <p:nvGrpSpPr>
        <p:cNvPr id="1" name=""/>
        <p:cNvGrpSpPr/>
        <p:nvPr/>
      </p:nvGrpSpPr>
      <p:grpSpPr>
        <a:xfrm>
          <a:off x="0" y="0"/>
          <a:ext cx="0" cy="0"/>
          <a:chOff x="0" y="0"/>
          <a:chExt cx="0" cy="0"/>
        </a:xfrm>
      </p:grpSpPr>
      <p:sp>
        <p:nvSpPr>
          <p:cNvPr id="2" name="Text 0"/>
          <p:cNvSpPr/>
          <p:nvPr/>
        </p:nvSpPr>
        <p:spPr>
          <a:xfrm>
            <a:off x="8412480" y="182880"/>
            <a:ext cx="3657600" cy="6400800"/>
          </a:xfrm>
          <a:prstGeom prst="rect">
            <a:avLst/>
          </a:prstGeom>
          <a:noFill/>
          <a:ln/>
        </p:spPr>
        <p:txBody>
          <a:bodyPr wrap="square" lIns="0" tIns="0" rIns="0" bIns="0" rtlCol="0" anchor="ctr"/>
          <a:lstStyle/>
          <a:p>
            <a:pPr algn="ctr" indent="0" marL="0">
              <a:buNone/>
            </a:pPr>
            <a:r>
              <a:rPr lang="en-US" sz="34000" b="1" dirty="0">
                <a:solidFill>
                  <a:srgbClr val="13463A"/>
                </a:solidFill>
                <a:latin typeface="Cambria" pitchFamily="34" charset="0"/>
                <a:ea typeface="Cambria" pitchFamily="34" charset="-122"/>
                <a:cs typeface="Cambria" pitchFamily="34" charset="-120"/>
              </a:rPr>
              <a:t>α</a:t>
            </a:r>
            <a:endParaRPr lang="en-US" sz="34000" dirty="0"/>
          </a:p>
        </p:txBody>
      </p:sp>
      <p:sp>
        <p:nvSpPr>
          <p:cNvPr id="3" name="Text 1"/>
          <p:cNvSpPr/>
          <p:nvPr/>
        </p:nvSpPr>
        <p:spPr>
          <a:xfrm>
            <a:off x="640080" y="1051560"/>
            <a:ext cx="10058400" cy="365760"/>
          </a:xfrm>
          <a:prstGeom prst="rect">
            <a:avLst/>
          </a:prstGeom>
          <a:noFill/>
          <a:ln/>
        </p:spPr>
        <p:txBody>
          <a:bodyPr wrap="square" lIns="0" tIns="0" rIns="0" bIns="0" rtlCol="0" anchor="ctr"/>
          <a:lstStyle/>
          <a:p>
            <a:pPr indent="0" marL="0">
              <a:buNone/>
            </a:pPr>
            <a:r>
              <a:rPr lang="en-US" sz="1400" b="1" spc="300" kern="0" dirty="0">
                <a:solidFill>
                  <a:srgbClr val="8FE3C6"/>
                </a:solidFill>
                <a:latin typeface="Calibri" pitchFamily="34" charset="0"/>
                <a:ea typeface="Calibri" pitchFamily="34" charset="-122"/>
                <a:cs typeface="Calibri" pitchFamily="34" charset="-120"/>
              </a:rPr>
              <a:t>SIMULATION-BASED INFERENCE  ·  TU DORTMUND</a:t>
            </a:r>
            <a:endParaRPr lang="en-US" sz="1400" dirty="0"/>
          </a:p>
        </p:txBody>
      </p:sp>
      <p:sp>
        <p:nvSpPr>
          <p:cNvPr id="4" name="Text 2"/>
          <p:cNvSpPr/>
          <p:nvPr/>
        </p:nvSpPr>
        <p:spPr>
          <a:xfrm>
            <a:off x="640080" y="173736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Predicting α-helix secondary structure</a:t>
            </a:r>
            <a:endParaRPr lang="en-US" sz="4000" dirty="0"/>
          </a:p>
        </p:txBody>
      </p:sp>
      <p:sp>
        <p:nvSpPr>
          <p:cNvPr id="5" name="Text 3"/>
          <p:cNvSpPr/>
          <p:nvPr/>
        </p:nvSpPr>
        <p:spPr>
          <a:xfrm>
            <a:off x="640080" y="2743200"/>
            <a:ext cx="10058400" cy="640080"/>
          </a:xfrm>
          <a:prstGeom prst="rect">
            <a:avLst/>
          </a:prstGeom>
          <a:noFill/>
          <a:ln/>
        </p:spPr>
        <p:txBody>
          <a:bodyPr wrap="square" lIns="0" tIns="0" rIns="0" bIns="0" rtlCol="0" anchor="ctr"/>
          <a:lstStyle/>
          <a:p>
            <a:pPr indent="0" marL="0">
              <a:buNone/>
            </a:pPr>
            <a:r>
              <a:rPr lang="en-US" sz="2200" i="1" dirty="0">
                <a:solidFill>
                  <a:srgbClr val="8FE3C6"/>
                </a:solidFill>
                <a:latin typeface="Cambria" pitchFamily="34" charset="0"/>
                <a:ea typeface="Cambria" pitchFamily="34" charset="-122"/>
                <a:cs typeface="Cambria" pitchFamily="34" charset="-120"/>
              </a:rPr>
              <a:t>A two-state Hidden Markov Model fit with amortized BayesFlow inference</a:t>
            </a:r>
            <a:endParaRPr lang="en-US" sz="2200" dirty="0"/>
          </a:p>
        </p:txBody>
      </p:sp>
      <p:sp>
        <p:nvSpPr>
          <p:cNvPr id="6" name="Shape 4"/>
          <p:cNvSpPr/>
          <p:nvPr/>
        </p:nvSpPr>
        <p:spPr>
          <a:xfrm>
            <a:off x="685800" y="3794760"/>
            <a:ext cx="2926080" cy="0"/>
          </a:xfrm>
          <a:prstGeom prst="line">
            <a:avLst/>
          </a:prstGeom>
          <a:noFill/>
          <a:ln w="25400">
            <a:solidFill>
              <a:srgbClr val="1D9E75"/>
            </a:solidFill>
            <a:prstDash val="solid"/>
          </a:ln>
        </p:spPr>
      </p:sp>
      <p:sp>
        <p:nvSpPr>
          <p:cNvPr id="7" name="Text 5"/>
          <p:cNvSpPr/>
          <p:nvPr/>
        </p:nvSpPr>
        <p:spPr>
          <a:xfrm>
            <a:off x="685800" y="4023360"/>
            <a:ext cx="10058400" cy="1097280"/>
          </a:xfrm>
          <a:prstGeom prst="rect">
            <a:avLst/>
          </a:prstGeom>
          <a:noFill/>
          <a:ln/>
        </p:spPr>
        <p:txBody>
          <a:bodyPr wrap="square" lIns="0" tIns="0" rIns="0" bIns="0" rtlCol="0" anchor="ctr"/>
          <a:lstStyle/>
          <a:p>
            <a:pPr indent="0" marL="0">
              <a:spcAft>
                <a:spcPts val="600"/>
              </a:spcAft>
              <a:buNone/>
            </a:pPr>
            <a:r>
              <a:rPr lang="en-US" sz="1800" b="1" dirty="0">
                <a:solidFill>
                  <a:srgbClr val="FFFFFF"/>
                </a:solidFill>
                <a:latin typeface="Calibri" pitchFamily="34" charset="0"/>
                <a:ea typeface="Calibri" pitchFamily="34" charset="-122"/>
                <a:cs typeface="Calibri" pitchFamily="34" charset="-120"/>
              </a:rPr>
              <a:t>Group [ number ]</a:t>
            </a:r>
            <a:endParaRPr lang="en-US" sz="1800" dirty="0"/>
          </a:p>
          <a:p>
            <a:pPr indent="0" marL="0">
              <a:buNone/>
            </a:pPr>
            <a:r>
              <a:rPr lang="en-US" sz="1500" dirty="0">
                <a:solidFill>
                  <a:srgbClr val="8FE3C6"/>
                </a:solidFill>
                <a:latin typeface="Calibri" pitchFamily="34" charset="0"/>
                <a:ea typeface="Calibri" pitchFamily="34" charset="-122"/>
                <a:cs typeface="Calibri" pitchFamily="34" charset="-120"/>
              </a:rPr>
              <a:t>[ Member 1 ]   ·   [ Member 2 ]   ·   [ Member 3 ]</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502920"/>
            <a:ext cx="7315200" cy="731520"/>
          </a:xfrm>
          <a:prstGeom prst="rect">
            <a:avLst/>
          </a:prstGeom>
          <a:noFill/>
          <a:ln/>
        </p:spPr>
        <p:txBody>
          <a:bodyPr wrap="square" lIns="0" tIns="0" rIns="0" bIns="0" rtlCol="0" anchor="ctr"/>
          <a:lstStyle/>
          <a:p>
            <a:pPr indent="0" marL="0">
              <a:buNone/>
            </a:pPr>
            <a:r>
              <a:rPr lang="en-US" sz="3000" b="1" dirty="0">
                <a:solidFill>
                  <a:srgbClr val="0F6E56"/>
                </a:solidFill>
                <a:latin typeface="Cambria" pitchFamily="34" charset="0"/>
                <a:ea typeface="Cambria" pitchFamily="34" charset="-122"/>
                <a:cs typeface="Cambria" pitchFamily="34" charset="-120"/>
              </a:rPr>
              <a:t>Roadmap</a:t>
            </a:r>
            <a:endParaRPr lang="en-US" sz="3000" dirty="0"/>
          </a:p>
        </p:txBody>
      </p:sp>
      <p:sp>
        <p:nvSpPr>
          <p:cNvPr id="3" name="Shape 1"/>
          <p:cNvSpPr/>
          <p:nvPr/>
        </p:nvSpPr>
        <p:spPr>
          <a:xfrm>
            <a:off x="822960" y="1554480"/>
            <a:ext cx="566928" cy="566928"/>
          </a:xfrm>
          <a:prstGeom prst="ellipse">
            <a:avLst/>
          </a:prstGeom>
          <a:solidFill>
            <a:srgbClr val="1D9E75"/>
          </a:solidFill>
          <a:ln/>
        </p:spPr>
      </p:sp>
      <p:sp>
        <p:nvSpPr>
          <p:cNvPr id="4" name="Text 2"/>
          <p:cNvSpPr/>
          <p:nvPr/>
        </p:nvSpPr>
        <p:spPr>
          <a:xfrm>
            <a:off x="822960" y="155448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p:nvPr/>
        </p:nvSpPr>
        <p:spPr>
          <a:xfrm>
            <a:off x="1645920" y="1554480"/>
            <a:ext cx="10058400" cy="566928"/>
          </a:xfrm>
          <a:prstGeom prst="rect">
            <a:avLst/>
          </a:prstGeom>
          <a:noFill/>
          <a:ln/>
        </p:spPr>
        <p:txBody>
          <a:bodyPr wrap="square" lIns="0" tIns="0" rIns="0" bIns="0" rtlCol="0" anchor="ctr"/>
          <a:lstStyle/>
          <a:p>
            <a:pPr indent="0" marL="0">
              <a:buNone/>
            </a:pPr>
            <a:r>
              <a:rPr lang="en-US" sz="1900" b="1" dirty="0">
                <a:solidFill>
                  <a:srgbClr val="1A2E29"/>
                </a:solidFill>
                <a:latin typeface="Calibri" pitchFamily="34" charset="0"/>
                <a:ea typeface="Calibri" pitchFamily="34" charset="-122"/>
                <a:cs typeface="Calibri" pitchFamily="34" charset="-120"/>
              </a:rPr>
              <a:t>The question   </a:t>
            </a:r>
            <a:pPr indent="0" marL="0">
              <a:buNone/>
            </a:pPr>
            <a:r>
              <a:rPr lang="en-US" sz="1400" dirty="0">
                <a:solidFill>
                  <a:srgbClr val="5B6B66"/>
                </a:solidFill>
                <a:latin typeface="Calibri" pitchFamily="34" charset="0"/>
                <a:ea typeface="Calibri" pitchFamily="34" charset="-122"/>
                <a:cs typeface="Calibri" pitchFamily="34" charset="-120"/>
              </a:rPr>
              <a:t>Predict α-helix vs other from sequence</a:t>
            </a:r>
            <a:endParaRPr lang="en-US" sz="1900" dirty="0"/>
          </a:p>
        </p:txBody>
      </p:sp>
      <p:sp>
        <p:nvSpPr>
          <p:cNvPr id="6" name="Shape 4"/>
          <p:cNvSpPr/>
          <p:nvPr/>
        </p:nvSpPr>
        <p:spPr>
          <a:xfrm>
            <a:off x="822960" y="2487168"/>
            <a:ext cx="566928" cy="566928"/>
          </a:xfrm>
          <a:prstGeom prst="ellipse">
            <a:avLst/>
          </a:prstGeom>
          <a:solidFill>
            <a:srgbClr val="1D9E75"/>
          </a:solidFill>
          <a:ln/>
        </p:spPr>
      </p:sp>
      <p:sp>
        <p:nvSpPr>
          <p:cNvPr id="7" name="Text 5"/>
          <p:cNvSpPr/>
          <p:nvPr/>
        </p:nvSpPr>
        <p:spPr>
          <a:xfrm>
            <a:off x="822960" y="24871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p:nvPr/>
        </p:nvSpPr>
        <p:spPr>
          <a:xfrm>
            <a:off x="1645920" y="2487168"/>
            <a:ext cx="10058400" cy="566928"/>
          </a:xfrm>
          <a:prstGeom prst="rect">
            <a:avLst/>
          </a:prstGeom>
          <a:noFill/>
          <a:ln/>
        </p:spPr>
        <p:txBody>
          <a:bodyPr wrap="square" lIns="0" tIns="0" rIns="0" bIns="0" rtlCol="0" anchor="ctr"/>
          <a:lstStyle/>
          <a:p>
            <a:pPr indent="0" marL="0">
              <a:buNone/>
            </a:pPr>
            <a:r>
              <a:rPr lang="en-US" sz="1900" b="1" dirty="0">
                <a:solidFill>
                  <a:srgbClr val="1A2E29"/>
                </a:solidFill>
                <a:latin typeface="Calibri" pitchFamily="34" charset="0"/>
                <a:ea typeface="Calibri" pitchFamily="34" charset="-122"/>
                <a:cs typeface="Calibri" pitchFamily="34" charset="-120"/>
              </a:rPr>
              <a:t>Forward–Backward   </a:t>
            </a:r>
            <a:pPr indent="0" marL="0">
              <a:buNone/>
            </a:pPr>
            <a:r>
              <a:rPr lang="en-US" sz="1400" dirty="0">
                <a:solidFill>
                  <a:srgbClr val="5B6B66"/>
                </a:solidFill>
                <a:latin typeface="Calibri" pitchFamily="34" charset="0"/>
                <a:ea typeface="Calibri" pitchFamily="34" charset="-122"/>
                <a:cs typeface="Calibri" pitchFamily="34" charset="-120"/>
              </a:rPr>
              <a:t>Exact per-residue posterior as training targets</a:t>
            </a:r>
            <a:endParaRPr lang="en-US" sz="1900" dirty="0"/>
          </a:p>
        </p:txBody>
      </p:sp>
      <p:sp>
        <p:nvSpPr>
          <p:cNvPr id="9" name="Shape 7"/>
          <p:cNvSpPr/>
          <p:nvPr/>
        </p:nvSpPr>
        <p:spPr>
          <a:xfrm>
            <a:off x="822960" y="3419856"/>
            <a:ext cx="566928" cy="566928"/>
          </a:xfrm>
          <a:prstGeom prst="ellipse">
            <a:avLst/>
          </a:prstGeom>
          <a:solidFill>
            <a:srgbClr val="1D9E75"/>
          </a:solidFill>
          <a:ln/>
        </p:spPr>
      </p:sp>
      <p:sp>
        <p:nvSpPr>
          <p:cNvPr id="10" name="Text 8"/>
          <p:cNvSpPr/>
          <p:nvPr/>
        </p:nvSpPr>
        <p:spPr>
          <a:xfrm>
            <a:off x="822960" y="3419856"/>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p:nvPr/>
        </p:nvSpPr>
        <p:spPr>
          <a:xfrm>
            <a:off x="1645920" y="3419856"/>
            <a:ext cx="10058400" cy="566928"/>
          </a:xfrm>
          <a:prstGeom prst="rect">
            <a:avLst/>
          </a:prstGeom>
          <a:noFill/>
          <a:ln/>
        </p:spPr>
        <p:txBody>
          <a:bodyPr wrap="square" lIns="0" tIns="0" rIns="0" bIns="0" rtlCol="0" anchor="ctr"/>
          <a:lstStyle/>
          <a:p>
            <a:pPr indent="0" marL="0">
              <a:buNone/>
            </a:pPr>
            <a:r>
              <a:rPr lang="en-US" sz="1900" b="1" dirty="0">
                <a:solidFill>
                  <a:srgbClr val="1A2E29"/>
                </a:solidFill>
                <a:latin typeface="Calibri" pitchFamily="34" charset="0"/>
                <a:ea typeface="Calibri" pitchFamily="34" charset="-122"/>
                <a:cs typeface="Calibri" pitchFamily="34" charset="-120"/>
              </a:rPr>
              <a:t>BayesFlow   </a:t>
            </a:r>
            <a:pPr indent="0" marL="0">
              <a:buNone/>
            </a:pPr>
            <a:r>
              <a:rPr lang="en-US" sz="1400" dirty="0">
                <a:solidFill>
                  <a:srgbClr val="5B6B66"/>
                </a:solidFill>
                <a:latin typeface="Calibri" pitchFamily="34" charset="0"/>
                <a:ea typeface="Calibri" pitchFamily="34" charset="-122"/>
                <a:cs typeface="Calibri" pitchFamily="34" charset="-120"/>
              </a:rPr>
              <a:t>Amortized neural posterior via a sliding window</a:t>
            </a:r>
            <a:endParaRPr lang="en-US" sz="1900" dirty="0"/>
          </a:p>
        </p:txBody>
      </p:sp>
      <p:sp>
        <p:nvSpPr>
          <p:cNvPr id="12" name="Shape 10"/>
          <p:cNvSpPr/>
          <p:nvPr/>
        </p:nvSpPr>
        <p:spPr>
          <a:xfrm>
            <a:off x="822960" y="4352544"/>
            <a:ext cx="566928" cy="566928"/>
          </a:xfrm>
          <a:prstGeom prst="ellipse">
            <a:avLst/>
          </a:prstGeom>
          <a:solidFill>
            <a:srgbClr val="1D9E75"/>
          </a:solidFill>
          <a:ln/>
        </p:spPr>
      </p:sp>
      <p:sp>
        <p:nvSpPr>
          <p:cNvPr id="13" name="Text 11"/>
          <p:cNvSpPr/>
          <p:nvPr/>
        </p:nvSpPr>
        <p:spPr>
          <a:xfrm>
            <a:off x="822960" y="43525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4" name="Text 12"/>
          <p:cNvSpPr/>
          <p:nvPr/>
        </p:nvSpPr>
        <p:spPr>
          <a:xfrm>
            <a:off x="1645920" y="4352544"/>
            <a:ext cx="10058400" cy="566928"/>
          </a:xfrm>
          <a:prstGeom prst="rect">
            <a:avLst/>
          </a:prstGeom>
          <a:noFill/>
          <a:ln/>
        </p:spPr>
        <p:txBody>
          <a:bodyPr wrap="square" lIns="0" tIns="0" rIns="0" bIns="0" rtlCol="0" anchor="ctr"/>
          <a:lstStyle/>
          <a:p>
            <a:pPr indent="0" marL="0">
              <a:buNone/>
            </a:pPr>
            <a:r>
              <a:rPr lang="en-US" sz="1900" b="1" dirty="0">
                <a:solidFill>
                  <a:srgbClr val="1A2E29"/>
                </a:solidFill>
                <a:latin typeface="Calibri" pitchFamily="34" charset="0"/>
                <a:ea typeface="Calibri" pitchFamily="34" charset="-122"/>
                <a:cs typeface="Calibri" pitchFamily="34" charset="-120"/>
              </a:rPr>
              <a:t>Insulin &amp; real evaluation   </a:t>
            </a:r>
            <a:pPr indent="0" marL="0">
              <a:buNone/>
            </a:pPr>
            <a:r>
              <a:rPr lang="en-US" sz="1400" dirty="0">
                <a:solidFill>
                  <a:srgbClr val="5B6B66"/>
                </a:solidFill>
                <a:latin typeface="Calibri" pitchFamily="34" charset="0"/>
                <a:ea typeface="Calibri" pitchFamily="34" charset="-122"/>
                <a:cs typeface="Calibri" pitchFamily="34" charset="-120"/>
              </a:rPr>
              <a:t>Held-out real proteins vs ground truth</a:t>
            </a:r>
            <a:endParaRPr lang="en-US" sz="1900" dirty="0"/>
          </a:p>
        </p:txBody>
      </p:sp>
      <p:sp>
        <p:nvSpPr>
          <p:cNvPr id="15" name="Shape 13"/>
          <p:cNvSpPr/>
          <p:nvPr/>
        </p:nvSpPr>
        <p:spPr>
          <a:xfrm>
            <a:off x="822960" y="5285232"/>
            <a:ext cx="566928" cy="566928"/>
          </a:xfrm>
          <a:prstGeom prst="ellipse">
            <a:avLst/>
          </a:prstGeom>
          <a:solidFill>
            <a:srgbClr val="1D9E75"/>
          </a:solidFill>
          <a:ln/>
        </p:spPr>
      </p:sp>
      <p:sp>
        <p:nvSpPr>
          <p:cNvPr id="16" name="Text 14"/>
          <p:cNvSpPr/>
          <p:nvPr/>
        </p:nvSpPr>
        <p:spPr>
          <a:xfrm>
            <a:off x="822960" y="528523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7" name="Text 15"/>
          <p:cNvSpPr/>
          <p:nvPr/>
        </p:nvSpPr>
        <p:spPr>
          <a:xfrm>
            <a:off x="1645920" y="5285232"/>
            <a:ext cx="10058400" cy="566928"/>
          </a:xfrm>
          <a:prstGeom prst="rect">
            <a:avLst/>
          </a:prstGeom>
          <a:noFill/>
          <a:ln/>
        </p:spPr>
        <p:txBody>
          <a:bodyPr wrap="square" lIns="0" tIns="0" rIns="0" bIns="0" rtlCol="0" anchor="ctr"/>
          <a:lstStyle/>
          <a:p>
            <a:pPr indent="0" marL="0">
              <a:buNone/>
            </a:pPr>
            <a:r>
              <a:rPr lang="en-US" sz="1900" b="1" dirty="0">
                <a:solidFill>
                  <a:srgbClr val="1A2E29"/>
                </a:solidFill>
                <a:latin typeface="Calibri" pitchFamily="34" charset="0"/>
                <a:ea typeface="Calibri" pitchFamily="34" charset="-122"/>
                <a:cs typeface="Calibri" pitchFamily="34" charset="-120"/>
              </a:rPr>
              <a:t>Comparison &amp; results   </a:t>
            </a:r>
            <a:pPr indent="0" marL="0">
              <a:buNone/>
            </a:pPr>
            <a:r>
              <a:rPr lang="en-US" sz="1400" dirty="0">
                <a:solidFill>
                  <a:srgbClr val="5B6B66"/>
                </a:solidFill>
                <a:latin typeface="Calibri" pitchFamily="34" charset="0"/>
                <a:ea typeface="Calibri" pitchFamily="34" charset="-122"/>
                <a:cs typeface="Calibri" pitchFamily="34" charset="-120"/>
              </a:rPr>
              <a:t>BayesFlow vs exact Forward–Backward</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THE QUESTION</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From amino-acid sequence to α-helix</a:t>
            </a:r>
            <a:endParaRPr lang="en-US" sz="2700" dirty="0"/>
          </a:p>
        </p:txBody>
      </p:sp>
      <p:sp>
        <p:nvSpPr>
          <p:cNvPr id="6" name="Text 4"/>
          <p:cNvSpPr/>
          <p:nvPr/>
        </p:nvSpPr>
        <p:spPr>
          <a:xfrm>
            <a:off x="502920" y="1828800"/>
            <a:ext cx="6126480" cy="3840480"/>
          </a:xfrm>
          <a:prstGeom prst="rect">
            <a:avLst/>
          </a:prstGeom>
          <a:noFill/>
          <a:ln/>
        </p:spPr>
        <p:txBody>
          <a:bodyPr wrap="square" rtlCol="0" anchor="t"/>
          <a:lstStyle/>
          <a:p>
            <a:pPr marL="177800" indent="-177800">
              <a:spcAft>
                <a:spcPts val="800"/>
              </a:spcAft>
              <a:buSzPct val="100000"/>
              <a:buChar char="•"/>
            </a:pPr>
            <a:r>
              <a:rPr lang="en-US" sz="1500" dirty="0">
                <a:solidFill>
                  <a:srgbClr val="1A2E29"/>
                </a:solidFill>
                <a:latin typeface="Calibri" pitchFamily="34" charset="0"/>
                <a:ea typeface="Calibri" pitchFamily="34" charset="-122"/>
                <a:cs typeface="Calibri" pitchFamily="34" charset="-120"/>
              </a:rPr>
              <a:t>Proteins fold; the local shape is the secondary structure (helix / sheet / coil).</a:t>
            </a:r>
            <a:endParaRPr lang="en-US" sz="1500" dirty="0"/>
          </a:p>
          <a:p>
            <a:pPr marL="177800" indent="-177800">
              <a:spcAft>
                <a:spcPts val="800"/>
              </a:spcAft>
              <a:buSzPct val="100000"/>
              <a:buChar char="•"/>
            </a:pPr>
            <a:r>
              <a:rPr lang="en-US" sz="1500" dirty="0">
                <a:solidFill>
                  <a:srgbClr val="1A2E29"/>
                </a:solidFill>
                <a:latin typeface="Calibri" pitchFamily="34" charset="0"/>
                <a:ea typeface="Calibri" pitchFamily="34" charset="-122"/>
                <a:cs typeface="Calibri" pitchFamily="34" charset="-120"/>
              </a:rPr>
              <a:t>We predict one thing: is each residue an α-helix, or 'other'?</a:t>
            </a:r>
            <a:endParaRPr lang="en-US" sz="1500" dirty="0"/>
          </a:p>
          <a:p>
            <a:pPr marL="177800" indent="-177800">
              <a:spcAft>
                <a:spcPts val="800"/>
              </a:spcAft>
              <a:buSzPct val="100000"/>
              <a:buChar char="•"/>
            </a:pPr>
            <a:r>
              <a:rPr lang="en-US" sz="1500" dirty="0">
                <a:solidFill>
                  <a:srgbClr val="1A2E29"/>
                </a:solidFill>
                <a:latin typeface="Calibri" pitchFamily="34" charset="0"/>
                <a:ea typeface="Calibri" pitchFamily="34" charset="-122"/>
                <a:cs typeface="Calibri" pitchFamily="34" charset="-120"/>
              </a:rPr>
              <a:t>Solving 3-D structure needs X-ray / NMR — expensive; we want it from sequence.</a:t>
            </a:r>
            <a:endParaRPr lang="en-US" sz="1500" dirty="0"/>
          </a:p>
          <a:p>
            <a:pPr marL="177800" indent="-177800">
              <a:spcAft>
                <a:spcPts val="800"/>
              </a:spcAft>
              <a:buSzPct val="100000"/>
              <a:buChar char="•"/>
            </a:pPr>
            <a:r>
              <a:rPr lang="en-US" sz="1500" dirty="0">
                <a:solidFill>
                  <a:srgbClr val="1A2E29"/>
                </a:solidFill>
                <a:latin typeface="Calibri" pitchFamily="34" charset="0"/>
                <a:ea typeface="Calibri" pitchFamily="34" charset="-122"/>
                <a:cs typeface="Calibri" pitchFamily="34" charset="-120"/>
              </a:rPr>
              <a:t>Our statistical model: a two-state Hidden Markov Model.</a:t>
            </a:r>
            <a:endParaRPr lang="en-US" sz="1500" dirty="0"/>
          </a:p>
        </p:txBody>
      </p:sp>
      <p:sp>
        <p:nvSpPr>
          <p:cNvPr id="7" name="Shape 5"/>
          <p:cNvSpPr/>
          <p:nvPr/>
        </p:nvSpPr>
        <p:spPr>
          <a:xfrm>
            <a:off x="7040880" y="1965960"/>
            <a:ext cx="4572000" cy="868680"/>
          </a:xfrm>
          <a:prstGeom prst="roundRect">
            <a:avLst>
              <a:gd name="adj" fmla="val 12632"/>
            </a:avLst>
          </a:prstGeom>
          <a:solidFill>
            <a:srgbClr val="1D9E75"/>
          </a:solidFill>
          <a:ln/>
        </p:spPr>
      </p:sp>
      <p:sp>
        <p:nvSpPr>
          <p:cNvPr id="8" name="Text 6"/>
          <p:cNvSpPr/>
          <p:nvPr/>
        </p:nvSpPr>
        <p:spPr>
          <a:xfrm>
            <a:off x="7040880" y="1965960"/>
            <a:ext cx="457200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α-helix  =  state “H”</a:t>
            </a:r>
            <a:endParaRPr lang="en-US" sz="2000" dirty="0"/>
          </a:p>
        </p:txBody>
      </p:sp>
      <p:sp>
        <p:nvSpPr>
          <p:cNvPr id="9" name="Shape 7"/>
          <p:cNvSpPr/>
          <p:nvPr/>
        </p:nvSpPr>
        <p:spPr>
          <a:xfrm>
            <a:off x="7040880" y="3017520"/>
            <a:ext cx="4572000" cy="868680"/>
          </a:xfrm>
          <a:prstGeom prst="roundRect">
            <a:avLst>
              <a:gd name="adj" fmla="val 12632"/>
            </a:avLst>
          </a:prstGeom>
          <a:solidFill>
            <a:srgbClr val="D3D1C7"/>
          </a:solidFill>
          <a:ln/>
        </p:spPr>
      </p:sp>
      <p:sp>
        <p:nvSpPr>
          <p:cNvPr id="10" name="Text 8"/>
          <p:cNvSpPr/>
          <p:nvPr/>
        </p:nvSpPr>
        <p:spPr>
          <a:xfrm>
            <a:off x="7040880" y="3017520"/>
            <a:ext cx="4572000" cy="868680"/>
          </a:xfrm>
          <a:prstGeom prst="rect">
            <a:avLst/>
          </a:prstGeom>
          <a:noFill/>
          <a:ln/>
        </p:spPr>
        <p:txBody>
          <a:bodyPr wrap="square" lIns="0" tIns="0" rIns="0" bIns="0" rtlCol="0" anchor="ctr"/>
          <a:lstStyle/>
          <a:p>
            <a:pPr algn="ctr" indent="0" marL="0">
              <a:buNone/>
            </a:pPr>
            <a:r>
              <a:rPr lang="en-US" sz="1800" b="1" dirty="0">
                <a:solidFill>
                  <a:srgbClr val="2B2A26"/>
                </a:solidFill>
                <a:latin typeface="Cambria" pitchFamily="34" charset="0"/>
                <a:ea typeface="Cambria" pitchFamily="34" charset="-122"/>
                <a:cs typeface="Cambria" pitchFamily="34" charset="-120"/>
              </a:rPr>
              <a:t>“other”  =  E B G I T S C</a:t>
            </a:r>
            <a:endParaRPr lang="en-US" sz="1800" dirty="0"/>
          </a:p>
        </p:txBody>
      </p:sp>
      <p:sp>
        <p:nvSpPr>
          <p:cNvPr id="11" name="Shape 9"/>
          <p:cNvSpPr/>
          <p:nvPr/>
        </p:nvSpPr>
        <p:spPr>
          <a:xfrm>
            <a:off x="7040880" y="4114800"/>
            <a:ext cx="4572000" cy="1280160"/>
          </a:xfrm>
          <a:prstGeom prst="roundRect">
            <a:avLst>
              <a:gd name="adj" fmla="val 7143"/>
            </a:avLst>
          </a:prstGeom>
          <a:solidFill>
            <a:srgbClr val="EAF5F0"/>
          </a:solidFill>
          <a:ln/>
        </p:spPr>
      </p:sp>
      <p:sp>
        <p:nvSpPr>
          <p:cNvPr id="12" name="Text 10"/>
          <p:cNvSpPr/>
          <p:nvPr/>
        </p:nvSpPr>
        <p:spPr>
          <a:xfrm>
            <a:off x="7269480" y="4206240"/>
            <a:ext cx="4114800" cy="1097280"/>
          </a:xfrm>
          <a:prstGeom prst="rect">
            <a:avLst/>
          </a:prstGeom>
          <a:noFill/>
          <a:ln/>
        </p:spPr>
        <p:txBody>
          <a:bodyPr wrap="square" lIns="0" tIns="0" rIns="0" bIns="0" rtlCol="0" anchor="ctr"/>
          <a:lstStyle/>
          <a:p>
            <a:pPr indent="0" marL="0">
              <a:buNone/>
            </a:pPr>
            <a:r>
              <a:rPr lang="en-US" sz="1300" b="1" dirty="0">
                <a:solidFill>
                  <a:srgbClr val="0F6E56"/>
                </a:solidFill>
                <a:latin typeface="Calibri" pitchFamily="34" charset="0"/>
                <a:ea typeface="Calibri" pitchFamily="34" charset="-122"/>
                <a:cs typeface="Calibri" pitchFamily="34" charset="-120"/>
              </a:rPr>
              <a:t>Mapping decision
</a:t>
            </a:r>
            <a:endParaRPr lang="en-US" sz="1300" dirty="0"/>
          </a:p>
          <a:p>
            <a:pPr indent="0" marL="0">
              <a:buNone/>
            </a:pPr>
            <a:r>
              <a:rPr lang="en-US" sz="1250" dirty="0">
                <a:solidFill>
                  <a:srgbClr val="1A2E29"/>
                </a:solidFill>
                <a:latin typeface="Calibri" pitchFamily="34" charset="0"/>
                <a:ea typeface="Calibri" pitchFamily="34" charset="-122"/>
                <a:cs typeface="Calibri" pitchFamily="34" charset="-120"/>
              </a:rPr>
              <a:t>DSSP labels each residue with 8 states. We keep only H as helix (strict α-helix); the other 7 → other.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THE QUESTION</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The generative model: a two-state HMM</a:t>
            </a:r>
            <a:endParaRPr lang="en-US" sz="2700" dirty="0"/>
          </a:p>
        </p:txBody>
      </p:sp>
      <p:pic>
        <p:nvPicPr>
          <p:cNvPr id="6" name="Image 0" descr="D:/SBI/hmm_explainer/1_two_state_hmm.png">    </p:cNvPr>
          <p:cNvPicPr>
            <a:picLocks noChangeAspect="1"/>
          </p:cNvPicPr>
          <p:nvPr/>
        </p:nvPicPr>
        <p:blipFill>
          <a:blip r:embed="rId1"/>
          <a:stretch>
            <a:fillRect/>
          </a:stretch>
        </p:blipFill>
        <p:spPr>
          <a:xfrm>
            <a:off x="5349240" y="1783080"/>
            <a:ext cx="6217920" cy="3657600"/>
          </a:xfrm>
          <a:prstGeom prst="rect">
            <a:avLst/>
          </a:prstGeom>
        </p:spPr>
      </p:pic>
      <p:sp>
        <p:nvSpPr>
          <p:cNvPr id="7" name="Text 4"/>
          <p:cNvSpPr/>
          <p:nvPr/>
        </p:nvSpPr>
        <p:spPr>
          <a:xfrm>
            <a:off x="5349240" y="5486400"/>
            <a:ext cx="6217920" cy="457200"/>
          </a:xfrm>
          <a:prstGeom prst="rect">
            <a:avLst/>
          </a:prstGeom>
          <a:noFill/>
          <a:ln/>
        </p:spPr>
        <p:txBody>
          <a:bodyPr wrap="square" lIns="0" tIns="0" rIns="0" bIns="0" rtlCol="0" anchor="ctr"/>
          <a:lstStyle/>
          <a:p>
            <a:pPr algn="ctr" indent="0" marL="0">
              <a:buNone/>
            </a:pPr>
            <a:r>
              <a:rPr lang="en-US" sz="1100" i="1" dirty="0">
                <a:solidFill>
                  <a:srgbClr val="5B6B66"/>
                </a:solidFill>
                <a:latin typeface="Calibri" pitchFamily="34" charset="0"/>
                <a:ea typeface="Calibri" pitchFamily="34" charset="-122"/>
                <a:cs typeface="Calibri" pitchFamily="34" charset="-120"/>
              </a:rPr>
              <a:t>Fig 1. Two-state HMM: start rule and transition probabilities.</a:t>
            </a:r>
            <a:endParaRPr lang="en-US" sz="1100" dirty="0"/>
          </a:p>
        </p:txBody>
      </p:sp>
      <p:sp>
        <p:nvSpPr>
          <p:cNvPr id="8" name="Text 5"/>
          <p:cNvSpPr/>
          <p:nvPr/>
        </p:nvSpPr>
        <p:spPr>
          <a:xfrm>
            <a:off x="502920" y="1828800"/>
            <a:ext cx="4572000" cy="2286000"/>
          </a:xfrm>
          <a:prstGeom prst="rect">
            <a:avLst/>
          </a:prstGeom>
          <a:noFill/>
          <a:ln/>
        </p:spPr>
        <p:txBody>
          <a:bodyPr wrap="square" rtlCol="0" anchor="t"/>
          <a:lstStyle/>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The chain always starts in “other”.</a:t>
            </a:r>
            <a:endParaRPr lang="en-US" sz="1400" dirty="0"/>
          </a:p>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Transitions: helix→helix 0.90, other→helix 0.05.</a:t>
            </a:r>
            <a:endParaRPr lang="en-US" sz="1400" dirty="0"/>
          </a:p>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So helices form ~10-residue runs, and are started rarely.</a:t>
            </a:r>
            <a:endParaRPr lang="en-US" sz="1400" dirty="0"/>
          </a:p>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Realistic: real data gives 0.912 and 0.041 (see next slide).</a:t>
            </a:r>
            <a:endParaRPr lang="en-US" sz="1400" dirty="0"/>
          </a:p>
        </p:txBody>
      </p:sp>
      <p:sp>
        <p:nvSpPr>
          <p:cNvPr id="9" name="Shape 6"/>
          <p:cNvSpPr/>
          <p:nvPr/>
        </p:nvSpPr>
        <p:spPr>
          <a:xfrm>
            <a:off x="502920" y="4251960"/>
            <a:ext cx="4572000" cy="1691640"/>
          </a:xfrm>
          <a:prstGeom prst="roundRect">
            <a:avLst>
              <a:gd name="adj" fmla="val 5405"/>
            </a:avLst>
          </a:prstGeom>
          <a:solidFill>
            <a:srgbClr val="EAF5F0"/>
          </a:solidFill>
          <a:ln/>
        </p:spPr>
      </p:sp>
      <p:sp>
        <p:nvSpPr>
          <p:cNvPr id="10" name="Text 7"/>
          <p:cNvSpPr/>
          <p:nvPr/>
        </p:nvSpPr>
        <p:spPr>
          <a:xfrm>
            <a:off x="731520" y="4389120"/>
            <a:ext cx="4160520" cy="1463040"/>
          </a:xfrm>
          <a:prstGeom prst="rect">
            <a:avLst/>
          </a:prstGeom>
          <a:noFill/>
          <a:ln/>
        </p:spPr>
        <p:txBody>
          <a:bodyPr wrap="square" lIns="0" tIns="0" rIns="0" bIns="0" rtlCol="0" anchor="t"/>
          <a:lstStyle/>
          <a:p>
            <a:pPr indent="0" marL="0">
              <a:buNone/>
            </a:pPr>
            <a:r>
              <a:rPr lang="en-US" sz="1350" b="1" dirty="0">
                <a:solidFill>
                  <a:srgbClr val="0F6E56"/>
                </a:solidFill>
                <a:latin typeface="Calibri" pitchFamily="34" charset="0"/>
                <a:ea typeface="Calibri" pitchFamily="34" charset="-122"/>
                <a:cs typeface="Calibri" pitchFamily="34" charset="-120"/>
              </a:rPr>
              <a:t>Prior &amp; likelihood
</a:t>
            </a:r>
            <a:endParaRPr lang="en-US" sz="1350" dirty="0"/>
          </a:p>
          <a:p>
            <a:pPr indent="0" marL="0">
              <a:buNone/>
            </a:pPr>
            <a:r>
              <a:rPr lang="en-US" sz="1200" dirty="0">
                <a:solidFill>
                  <a:srgbClr val="1A2E29"/>
                </a:solidFill>
                <a:latin typeface="Calibri" pitchFamily="34" charset="0"/>
                <a:ea typeface="Calibri" pitchFamily="34" charset="-122"/>
                <a:cs typeface="Calibri" pitchFamily="34" charset="-120"/>
              </a:rPr>
              <a:t>No parameters are inferred — all fixed. The prior is the induced distribution over hidden state paths p(z₁:T), from start = [0,1] and the transition matrix. The likelihood is the emission table.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THE QUESTION</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Emissions — and are they realistic?</a:t>
            </a:r>
            <a:endParaRPr lang="en-US" sz="2700" dirty="0"/>
          </a:p>
        </p:txBody>
      </p:sp>
      <p:pic>
        <p:nvPicPr>
          <p:cNvPr id="6" name="Image 0" descr="D:/SBI/hmm_explainer/2_emission_probabilities.png">    </p:cNvPr>
          <p:cNvPicPr>
            <a:picLocks noChangeAspect="1"/>
          </p:cNvPicPr>
          <p:nvPr/>
        </p:nvPicPr>
        <p:blipFill>
          <a:blip r:embed="rId1"/>
          <a:stretch>
            <a:fillRect/>
          </a:stretch>
        </p:blipFill>
        <p:spPr>
          <a:xfrm>
            <a:off x="2697480" y="1691640"/>
            <a:ext cx="6812280" cy="3163824"/>
          </a:xfrm>
          <a:prstGeom prst="rect">
            <a:avLst/>
          </a:prstGeom>
        </p:spPr>
      </p:pic>
      <p:sp>
        <p:nvSpPr>
          <p:cNvPr id="7" name="Text 4"/>
          <p:cNvSpPr/>
          <p:nvPr/>
        </p:nvSpPr>
        <p:spPr>
          <a:xfrm>
            <a:off x="2697480" y="4892040"/>
            <a:ext cx="6812280" cy="457200"/>
          </a:xfrm>
          <a:prstGeom prst="rect">
            <a:avLst/>
          </a:prstGeom>
          <a:noFill/>
          <a:ln/>
        </p:spPr>
        <p:txBody>
          <a:bodyPr wrap="square" lIns="0" tIns="0" rIns="0" bIns="0" rtlCol="0" anchor="ctr"/>
          <a:lstStyle/>
          <a:p>
            <a:pPr algn="ctr" indent="0" marL="0">
              <a:buNone/>
            </a:pPr>
            <a:r>
              <a:rPr lang="en-US" sz="1100" i="1" dirty="0">
                <a:solidFill>
                  <a:srgbClr val="5B6B66"/>
                </a:solidFill>
                <a:latin typeface="Calibri" pitchFamily="34" charset="0"/>
                <a:ea typeface="Calibri" pitchFamily="34" charset="-122"/>
                <a:cs typeface="Calibri" pitchFamily="34" charset="-120"/>
              </a:rPr>
              <a:t>Fig 2. Per-state amino-acid emission probabilities (α-helix vs other).</a:t>
            </a:r>
            <a:endParaRPr lang="en-US" sz="1100" dirty="0"/>
          </a:p>
        </p:txBody>
      </p:sp>
      <p:sp>
        <p:nvSpPr>
          <p:cNvPr id="8" name="Shape 5"/>
          <p:cNvSpPr/>
          <p:nvPr/>
        </p:nvSpPr>
        <p:spPr>
          <a:xfrm>
            <a:off x="502920" y="5394960"/>
            <a:ext cx="11155680" cy="1051560"/>
          </a:xfrm>
          <a:prstGeom prst="roundRect">
            <a:avLst>
              <a:gd name="adj" fmla="val 8696"/>
            </a:avLst>
          </a:prstGeom>
          <a:solidFill>
            <a:srgbClr val="EAF5F0"/>
          </a:solidFill>
          <a:ln/>
        </p:spPr>
      </p:sp>
      <p:sp>
        <p:nvSpPr>
          <p:cNvPr id="9" name="Text 6"/>
          <p:cNvSpPr/>
          <p:nvPr/>
        </p:nvSpPr>
        <p:spPr>
          <a:xfrm>
            <a:off x="777240" y="5394960"/>
            <a:ext cx="10607040" cy="1051560"/>
          </a:xfrm>
          <a:prstGeom prst="rect">
            <a:avLst/>
          </a:prstGeom>
          <a:noFill/>
          <a:ln/>
        </p:spPr>
        <p:txBody>
          <a:bodyPr wrap="square" lIns="0" tIns="0" rIns="0" bIns="0" rtlCol="0" anchor="ctr"/>
          <a:lstStyle/>
          <a:p>
            <a:pPr indent="0" marL="0">
              <a:buNone/>
            </a:pPr>
            <a:r>
              <a:rPr lang="en-US" sz="1350" b="1" dirty="0">
                <a:solidFill>
                  <a:srgbClr val="0F6E56"/>
                </a:solidFill>
                <a:latin typeface="Calibri" pitchFamily="34" charset="0"/>
                <a:ea typeface="Calibri" pitchFamily="34" charset="-122"/>
                <a:cs typeface="Calibri" pitchFamily="34" charset="-120"/>
              </a:rPr>
              <a:t>Yes — checked against real PISCES data:   </a:t>
            </a:r>
            <a:pPr indent="0" marL="0">
              <a:buNone/>
            </a:pPr>
            <a:r>
              <a:rPr lang="en-US" sz="1300" dirty="0">
                <a:solidFill>
                  <a:srgbClr val="1A2E29"/>
                </a:solidFill>
                <a:latin typeface="Calibri" pitchFamily="34" charset="0"/>
                <a:ea typeface="Calibri" pitchFamily="34" charset="-122"/>
                <a:cs typeface="Calibri" pitchFamily="34" charset="-120"/>
              </a:rPr>
              <a:t>emissions match at r = 0.99 (max 0.9 pp off); transitions match too (P(h→h) 0.912 vs 0.90). Both tables are empirically well-founded.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FORWARD–BACKWARD</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Notebooks 1–2: simulate, then get exact targets</a:t>
            </a:r>
            <a:endParaRPr lang="en-US" sz="2700" dirty="0"/>
          </a:p>
        </p:txBody>
      </p:sp>
      <p:pic>
        <p:nvPicPr>
          <p:cNvPr id="6" name="Image 0" descr="D:/SBI/hmm_explainer/3_bayesflow_pipeline.png">    </p:cNvPr>
          <p:cNvPicPr>
            <a:picLocks noChangeAspect="1"/>
          </p:cNvPicPr>
          <p:nvPr/>
        </p:nvPicPr>
        <p:blipFill>
          <a:blip r:embed="rId1"/>
          <a:stretch>
            <a:fillRect/>
          </a:stretch>
        </p:blipFill>
        <p:spPr>
          <a:xfrm>
            <a:off x="5806440" y="1691640"/>
            <a:ext cx="5715000" cy="3657600"/>
          </a:xfrm>
          <a:prstGeom prst="rect">
            <a:avLst/>
          </a:prstGeom>
        </p:spPr>
      </p:pic>
      <p:sp>
        <p:nvSpPr>
          <p:cNvPr id="7" name="Text 4"/>
          <p:cNvSpPr/>
          <p:nvPr/>
        </p:nvSpPr>
        <p:spPr>
          <a:xfrm>
            <a:off x="5806440" y="5394960"/>
            <a:ext cx="5715000" cy="457200"/>
          </a:xfrm>
          <a:prstGeom prst="rect">
            <a:avLst/>
          </a:prstGeom>
          <a:noFill/>
          <a:ln/>
        </p:spPr>
        <p:txBody>
          <a:bodyPr wrap="square" lIns="0" tIns="0" rIns="0" bIns="0" rtlCol="0" anchor="ctr"/>
          <a:lstStyle/>
          <a:p>
            <a:pPr algn="ctr" indent="0" marL="0">
              <a:buNone/>
            </a:pPr>
            <a:r>
              <a:rPr lang="en-US" sz="1100" i="1" dirty="0">
                <a:solidFill>
                  <a:srgbClr val="5B6B66"/>
                </a:solidFill>
                <a:latin typeface="Calibri" pitchFamily="34" charset="0"/>
                <a:ea typeface="Calibri" pitchFamily="34" charset="-122"/>
                <a:cs typeface="Calibri" pitchFamily="34" charset="-120"/>
              </a:rPr>
              <a:t>Fig 3. Full pipeline: simulator → Forward–Backward → BayesFlow → evaluation.</a:t>
            </a:r>
            <a:endParaRPr lang="en-US" sz="1100" dirty="0"/>
          </a:p>
        </p:txBody>
      </p:sp>
      <p:sp>
        <p:nvSpPr>
          <p:cNvPr id="8" name="Text 5"/>
          <p:cNvSpPr/>
          <p:nvPr/>
        </p:nvSpPr>
        <p:spPr>
          <a:xfrm>
            <a:off x="502920" y="1828800"/>
            <a:ext cx="5120640" cy="3931920"/>
          </a:xfrm>
          <a:prstGeom prst="rect">
            <a:avLst/>
          </a:prstGeom>
          <a:noFill/>
          <a:ln/>
        </p:spPr>
        <p:txBody>
          <a:bodyPr wrap="square" rtlCol="0" anchor="t"/>
          <a:lstStyle/>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Simulate 100,000 chains; lengths sampled from real PISCES (median 208).</a:t>
            </a:r>
            <a:endParaRPr lang="en-US" sz="1400" dirty="0"/>
          </a:p>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Run Forward–Backward (hmmlearn) → exact P(helix) per residue = training targets.</a:t>
            </a:r>
            <a:endParaRPr lang="en-US" sz="1400" dirty="0"/>
          </a:p>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24.3M residues — the exact Bayesian “answer key”.</a:t>
            </a:r>
            <a:endParaRPr lang="en-US" sz="1400" dirty="0"/>
          </a:p>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Checks: mean P 0.324; residue-0 = 0; recovers hidden states at the Bayes ceiling (AUC 0.79).</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BAYESFLOW</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Turning a variable-length chain into a fixed input</a:t>
            </a:r>
            <a:endParaRPr lang="en-US" sz="2700" dirty="0"/>
          </a:p>
        </p:txBody>
      </p:sp>
      <p:pic>
        <p:nvPicPr>
          <p:cNvPr id="6" name="Image 0" descr="D:/SBI/restart/figures/bayesflow_window_schematic.png">    </p:cNvPr>
          <p:cNvPicPr>
            <a:picLocks noChangeAspect="1"/>
          </p:cNvPicPr>
          <p:nvPr/>
        </p:nvPicPr>
        <p:blipFill>
          <a:blip r:embed="rId1"/>
          <a:stretch>
            <a:fillRect/>
          </a:stretch>
        </p:blipFill>
        <p:spPr>
          <a:xfrm>
            <a:off x="2148840" y="1600200"/>
            <a:ext cx="7863840" cy="3108960"/>
          </a:xfrm>
          <a:prstGeom prst="rect">
            <a:avLst/>
          </a:prstGeom>
        </p:spPr>
      </p:pic>
      <p:sp>
        <p:nvSpPr>
          <p:cNvPr id="7" name="Text 4"/>
          <p:cNvSpPr/>
          <p:nvPr/>
        </p:nvSpPr>
        <p:spPr>
          <a:xfrm>
            <a:off x="2148840" y="4736592"/>
            <a:ext cx="7863840" cy="457200"/>
          </a:xfrm>
          <a:prstGeom prst="rect">
            <a:avLst/>
          </a:prstGeom>
          <a:noFill/>
          <a:ln/>
        </p:spPr>
        <p:txBody>
          <a:bodyPr wrap="square" lIns="0" tIns="0" rIns="0" bIns="0" rtlCol="0" anchor="ctr"/>
          <a:lstStyle/>
          <a:p>
            <a:pPr algn="ctr" indent="0" marL="0">
              <a:buNone/>
            </a:pPr>
            <a:r>
              <a:rPr lang="en-US" sz="1100" i="1" dirty="0">
                <a:solidFill>
                  <a:srgbClr val="5B6B66"/>
                </a:solidFill>
                <a:latin typeface="Calibri" pitchFamily="34" charset="0"/>
                <a:ea typeface="Calibri" pitchFamily="34" charset="-122"/>
                <a:cs typeface="Calibri" pitchFamily="34" charset="-120"/>
              </a:rPr>
              <a:t>Fig 4. Sliding 31-residue window → one-hot encoding → CouplingFlow posterior.</a:t>
            </a:r>
            <a:endParaRPr lang="en-US" sz="1100" dirty="0"/>
          </a:p>
        </p:txBody>
      </p:sp>
      <p:sp>
        <p:nvSpPr>
          <p:cNvPr id="8" name="Text 5"/>
          <p:cNvSpPr/>
          <p:nvPr/>
        </p:nvSpPr>
        <p:spPr>
          <a:xfrm>
            <a:off x="502920" y="5120640"/>
            <a:ext cx="6675120" cy="1645920"/>
          </a:xfrm>
          <a:prstGeom prst="rect">
            <a:avLst/>
          </a:prstGeom>
          <a:noFill/>
          <a:ln/>
        </p:spPr>
        <p:txBody>
          <a:bodyPr wrap="square" rtlCol="0" anchor="t"/>
          <a:lstStyle/>
          <a:p>
            <a:pPr marL="177800" indent="-177800">
              <a:spcAft>
                <a:spcPts val="800"/>
              </a:spcAft>
              <a:buSzPct val="100000"/>
              <a:buChar char="•"/>
            </a:pPr>
            <a:r>
              <a:rPr lang="en-US" sz="1200" dirty="0">
                <a:solidFill>
                  <a:srgbClr val="1A2E29"/>
                </a:solidFill>
                <a:latin typeface="Calibri" pitchFamily="34" charset="0"/>
                <a:ea typeface="Calibri" pitchFamily="34" charset="-122"/>
                <a:cs typeface="Calibri" pitchFamily="34" charset="-120"/>
              </a:rPr>
              <a:t>Flow needs a fixed-size input → predict one residue from a fixed 31-residue window (±15), slid along the chain.</a:t>
            </a:r>
            <a:endParaRPr lang="en-US" sz="1200" dirty="0"/>
          </a:p>
          <a:p>
            <a:pPr marL="177800" indent="-177800">
              <a:spcAft>
                <a:spcPts val="800"/>
              </a:spcAft>
              <a:buSzPct val="100000"/>
              <a:buChar char="•"/>
            </a:pPr>
            <a:r>
              <a:rPr lang="en-US" sz="1200" dirty="0">
                <a:solidFill>
                  <a:srgbClr val="1A2E29"/>
                </a:solidFill>
                <a:latin typeface="Calibri" pitchFamily="34" charset="0"/>
                <a:ea typeface="Calibri" pitchFamily="34" charset="-122"/>
                <a:cs typeface="Calibri" pitchFamily="34" charset="-120"/>
              </a:rPr>
              <a:t>One-hot: 31 × 21 channels = 20 amino acids + 1 padding (chain ends).</a:t>
            </a:r>
            <a:endParaRPr lang="en-US" sz="1200" dirty="0"/>
          </a:p>
          <a:p>
            <a:pPr marL="177800" indent="-177800">
              <a:spcAft>
                <a:spcPts val="800"/>
              </a:spcAft>
              <a:buSzPct val="100000"/>
              <a:buChar char="•"/>
            </a:pPr>
            <a:r>
              <a:rPr lang="en-US" sz="1200" dirty="0">
                <a:solidFill>
                  <a:srgbClr val="1A2E29"/>
                </a:solidFill>
                <a:latin typeface="Calibri" pitchFamily="34" charset="0"/>
                <a:ea typeface="Calibri" pitchFamily="34" charset="-122"/>
                <a:cs typeface="Calibri" pitchFamily="34" charset="-120"/>
              </a:rPr>
              <a:t>Given the FULL sequence, γ is DETERMINISTIC (a point mass) — nothing to estimate. We condition on a LOCAL window so γ becomes uncertain → a genuine posterior to learn.</a:t>
            </a:r>
            <a:endParaRPr lang="en-US" sz="1200" dirty="0"/>
          </a:p>
        </p:txBody>
      </p:sp>
      <p:sp>
        <p:nvSpPr>
          <p:cNvPr id="9" name="Shape 6"/>
          <p:cNvSpPr/>
          <p:nvPr/>
        </p:nvSpPr>
        <p:spPr>
          <a:xfrm>
            <a:off x="7452360" y="5029200"/>
            <a:ext cx="4206240" cy="1600200"/>
          </a:xfrm>
          <a:prstGeom prst="roundRect">
            <a:avLst>
              <a:gd name="adj" fmla="val 5714"/>
            </a:avLst>
          </a:prstGeom>
          <a:solidFill>
            <a:srgbClr val="0F6E56"/>
          </a:solidFill>
          <a:ln/>
        </p:spPr>
      </p:sp>
      <p:sp>
        <p:nvSpPr>
          <p:cNvPr id="10" name="Text 7"/>
          <p:cNvSpPr/>
          <p:nvPr/>
        </p:nvSpPr>
        <p:spPr>
          <a:xfrm>
            <a:off x="7680960" y="5138928"/>
            <a:ext cx="3749040" cy="1417320"/>
          </a:xfrm>
          <a:prstGeom prst="rect">
            <a:avLst/>
          </a:prstGeom>
          <a:noFill/>
          <a:ln/>
        </p:spPr>
        <p:txBody>
          <a:bodyPr wrap="square" lIns="0" tIns="0" rIns="0" bIns="0" rtlCol="0" anchor="t"/>
          <a:lstStyle/>
          <a:p>
            <a:pPr indent="0" marL="0">
              <a:buNone/>
            </a:pPr>
            <a:r>
              <a:rPr lang="en-US" sz="1300" b="1" dirty="0">
                <a:solidFill>
                  <a:srgbClr val="8FE3C6"/>
                </a:solidFill>
                <a:latin typeface="Calibri" pitchFamily="34" charset="0"/>
                <a:ea typeface="Calibri" pitchFamily="34" charset="-122"/>
                <a:cs typeface="Calibri" pitchFamily="34" charset="-120"/>
              </a:rPr>
              <a:t>Why ±15 is enough
</a:t>
            </a:r>
            <a:endParaRPr lang="en-US" sz="1300" dirty="0"/>
          </a:p>
          <a:p>
            <a:pPr indent="0" marL="0">
              <a:buNone/>
            </a:pPr>
            <a:r>
              <a:rPr lang="en-US" sz="1150" dirty="0">
                <a:solidFill>
                  <a:srgbClr val="FFFFFF"/>
                </a:solidFill>
                <a:latin typeface="Calibri" pitchFamily="34" charset="0"/>
                <a:ea typeface="Calibri" pitchFamily="34" charset="-122"/>
                <a:cs typeface="Calibri" pitchFamily="34" charset="-120"/>
              </a:rPr>
              <a:t>2nd eigenvalue λ₂ = 1 − 0.10 − 0.05 = 0.85 → influence decays geometrically: 0.85¹⁵ ≈ 0.09. Residues outside the window carry &lt;10%. So r = 0.999 is expected, not suspicious.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BAYESFLOW</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How we trained it</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6858000" cy="914400"/>
        </p:xfrm>
        <a:graphic>
          <a:graphicData uri="http://schemas.openxmlformats.org/drawingml/2006/table">
            <a:tbl>
              <a:tblPr/>
              <a:tblGrid>
                <a:gridCol w="2286000"/>
                <a:gridCol w="457200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0F6E5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Choice  ·  why</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0F6E56"/>
                    </a:solidFill>
                  </a:tcPr>
                </a:tc>
              </a:tr>
              <a:tr h="566928">
                <a:tc>
                  <a:txBody>
                    <a:bodyPr/>
                    <a:lstStyle/>
                    <a:p>
                      <a:pPr indent="0" marL="0">
                        <a:buNone/>
                      </a:pPr>
                      <a:r>
                        <a:rPr lang="en-US" sz="1300" dirty="0">
                          <a:solidFill>
                            <a:srgbClr val="1A2E29"/>
                          </a:solidFill>
                          <a:latin typeface="Calibri" pitchFamily="34" charset="0"/>
                          <a:ea typeface="Calibri" pitchFamily="34" charset="-122"/>
                          <a:cs typeface="Calibri" pitchFamily="34" charset="-120"/>
                        </a:rPr>
                        <a:t>Inference network</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FFFFFF"/>
                    </a:solidFill>
                  </a:tcPr>
                </a:tc>
                <a:tc>
                  <a:txBody>
                    <a:bodyPr/>
                    <a:lstStyle/>
                    <a:p>
                      <a:pPr indent="0" marL="0">
                        <a:buNone/>
                      </a:pPr>
                      <a:r>
                        <a:rPr lang="en-US" sz="1300" dirty="0">
                          <a:solidFill>
                            <a:srgbClr val="1A2E29"/>
                          </a:solidFill>
                          <a:latin typeface="Calibri" pitchFamily="34" charset="0"/>
                          <a:ea typeface="Calibri" pitchFamily="34" charset="-122"/>
                          <a:cs typeface="Calibri" pitchFamily="34" charset="-120"/>
                        </a:rPr>
                        <a:t>CouplingFlow, depth 6, 256×256 subnets</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A2E29"/>
                          </a:solidFill>
                          <a:latin typeface="Calibri" pitchFamily="34" charset="0"/>
                          <a:ea typeface="Calibri" pitchFamily="34" charset="-122"/>
                          <a:cs typeface="Calibri" pitchFamily="34" charset="-120"/>
                        </a:rPr>
                        <a:t>Target θ (3-D)</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FFFFFF"/>
                    </a:solidFill>
                  </a:tcPr>
                </a:tc>
                <a:tc>
                  <a:txBody>
                    <a:bodyPr/>
                    <a:lstStyle/>
                    <a:p>
                      <a:pPr indent="0" marL="0">
                        <a:buNone/>
                      </a:pPr>
                      <a:r>
                        <a:rPr lang="en-US" sz="1300" dirty="0">
                          <a:solidFill>
                            <a:srgbClr val="1A2E29"/>
                          </a:solidFill>
                          <a:latin typeface="Calibri" pitchFamily="34" charset="0"/>
                          <a:ea typeface="Calibri" pitchFamily="34" charset="-122"/>
                          <a:cs typeface="Calibri" pitchFamily="34" charset="-120"/>
                        </a:rPr>
                        <a:t>logit P(helix) at [prev, centre, next]</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A2E29"/>
                          </a:solidFill>
                          <a:latin typeface="Calibri" pitchFamily="34" charset="0"/>
                          <a:ea typeface="Calibri" pitchFamily="34" charset="-122"/>
                          <a:cs typeface="Calibri" pitchFamily="34" charset="-120"/>
                        </a:rPr>
                        <a:t>Conditions</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FFFFFF"/>
                    </a:solidFill>
                  </a:tcPr>
                </a:tc>
                <a:tc>
                  <a:txBody>
                    <a:bodyPr/>
                    <a:lstStyle/>
                    <a:p>
                      <a:pPr indent="0" marL="0">
                        <a:buNone/>
                      </a:pPr>
                      <a:r>
                        <a:rPr lang="en-US" sz="1300" dirty="0">
                          <a:solidFill>
                            <a:srgbClr val="1A2E29"/>
                          </a:solidFill>
                          <a:latin typeface="Calibri" pitchFamily="34" charset="0"/>
                          <a:ea typeface="Calibri" pitchFamily="34" charset="-122"/>
                          <a:cs typeface="Calibri" pitchFamily="34" charset="-120"/>
                        </a:rPr>
                        <a:t>flattened 31×21 = 651 one-hot window</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A2E29"/>
                          </a:solidFill>
                          <a:latin typeface="Calibri" pitchFamily="34" charset="0"/>
                          <a:ea typeface="Calibri" pitchFamily="34" charset="-122"/>
                          <a:cs typeface="Calibri" pitchFamily="34" charset="-120"/>
                        </a:rPr>
                        <a:t>Training data</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FFFFFF"/>
                    </a:solidFill>
                  </a:tcPr>
                </a:tc>
                <a:tc>
                  <a:txBody>
                    <a:bodyPr/>
                    <a:lstStyle/>
                    <a:p>
                      <a:pPr indent="0" marL="0">
                        <a:buNone/>
                      </a:pPr>
                      <a:r>
                        <a:rPr lang="en-US" sz="1300" dirty="0">
                          <a:solidFill>
                            <a:srgbClr val="1A2E29"/>
                          </a:solidFill>
                          <a:latin typeface="Calibri" pitchFamily="34" charset="0"/>
                          <a:ea typeface="Calibri" pitchFamily="34" charset="-122"/>
                          <a:cs typeface="Calibri" pitchFamily="34" charset="-120"/>
                        </a:rPr>
                        <a:t>300,000 windows from 15,000 chains</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A2E29"/>
                          </a:solidFill>
                          <a:latin typeface="Calibri" pitchFamily="34" charset="0"/>
                          <a:ea typeface="Calibri" pitchFamily="34" charset="-122"/>
                          <a:cs typeface="Calibri" pitchFamily="34" charset="-120"/>
                        </a:rPr>
                        <a:t>Optimizer / epochs</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FFFFFF"/>
                    </a:solidFill>
                  </a:tcPr>
                </a:tc>
                <a:tc>
                  <a:txBody>
                    <a:bodyPr/>
                    <a:lstStyle/>
                    <a:p>
                      <a:pPr indent="0" marL="0">
                        <a:buNone/>
                      </a:pPr>
                      <a:r>
                        <a:rPr lang="en-US" sz="1300" dirty="0">
                          <a:solidFill>
                            <a:srgbClr val="1A2E29"/>
                          </a:solidFill>
                          <a:latin typeface="Calibri" pitchFamily="34" charset="0"/>
                          <a:ea typeface="Calibri" pitchFamily="34" charset="-122"/>
                          <a:cs typeface="Calibri" pitchFamily="34" charset="-120"/>
                        </a:rPr>
                        <a:t>Adam · 30 epochs · batch 512</a:t>
                      </a:r>
                      <a:endParaRPr lang="en-US" sz="1300" dirty="0">
                        <a:latin typeface="Calibri" charset="0"/>
                        <a:ea typeface="Calibri" charset="0"/>
                        <a:cs typeface="Calibri" charset="0"/>
                      </a:endParaRPr>
                    </a:p>
                  </a:txBody>
                  <a:tcPr marL="91440" marR="91440" marT="45720" marB="45720" anchor="ctr">
                    <a:lnL w="6350" cap="flat" cmpd="sng" algn="ctr">
                      <a:solidFill>
                        <a:srgbClr val="D8E4DF"/>
                      </a:solidFill>
                      <a:prstDash val="solid"/>
                      <a:round/>
                      <a:headEnd type="none" w="med" len="med"/>
                      <a:tailEnd type="none" w="med" len="med"/>
                    </a:lnL>
                    <a:lnR w="6350" cap="flat" cmpd="sng" algn="ctr">
                      <a:solidFill>
                        <a:srgbClr val="D8E4DF"/>
                      </a:solidFill>
                      <a:prstDash val="solid"/>
                      <a:round/>
                      <a:headEnd type="none" w="med" len="med"/>
                      <a:tailEnd type="none" w="med" len="med"/>
                    </a:lnR>
                    <a:lnT w="6350" cap="flat" cmpd="sng" algn="ctr">
                      <a:solidFill>
                        <a:srgbClr val="D8E4DF"/>
                      </a:solidFill>
                      <a:prstDash val="solid"/>
                      <a:round/>
                      <a:headEnd type="none" w="med" len="med"/>
                      <a:tailEnd type="none" w="med" len="med"/>
                    </a:lnT>
                    <a:lnB w="6350" cap="flat" cmpd="sng" algn="ctr">
                      <a:solidFill>
                        <a:srgbClr val="D8E4DF"/>
                      </a:solidFill>
                      <a:prstDash val="solid"/>
                      <a:round/>
                      <a:headEnd type="none" w="med" len="med"/>
                      <a:tailEnd type="none" w="med" len="med"/>
                    </a:lnB>
                    <a:solidFill>
                      <a:srgbClr val="FFFFFF"/>
                    </a:solidFill>
                  </a:tcPr>
                </a:tc>
              </a:tr>
            </a:tbl>
          </a:graphicData>
        </a:graphic>
      </p:graphicFrame>
      <p:sp>
        <p:nvSpPr>
          <p:cNvPr id="7" name="Shape 4"/>
          <p:cNvSpPr/>
          <p:nvPr/>
        </p:nvSpPr>
        <p:spPr>
          <a:xfrm>
            <a:off x="7680960" y="1874520"/>
            <a:ext cx="3977640" cy="1600200"/>
          </a:xfrm>
          <a:prstGeom prst="roundRect">
            <a:avLst>
              <a:gd name="adj" fmla="val 5714"/>
            </a:avLst>
          </a:prstGeom>
          <a:solidFill>
            <a:srgbClr val="EAF5F0"/>
          </a:solidFill>
          <a:ln/>
        </p:spPr>
      </p:sp>
      <p:sp>
        <p:nvSpPr>
          <p:cNvPr id="8" name="Text 5"/>
          <p:cNvSpPr/>
          <p:nvPr/>
        </p:nvSpPr>
        <p:spPr>
          <a:xfrm>
            <a:off x="7909560" y="2011680"/>
            <a:ext cx="3566160" cy="1371600"/>
          </a:xfrm>
          <a:prstGeom prst="rect">
            <a:avLst/>
          </a:prstGeom>
          <a:noFill/>
          <a:ln/>
        </p:spPr>
        <p:txBody>
          <a:bodyPr wrap="square" lIns="0" tIns="0" rIns="0" bIns="0" rtlCol="0" anchor="t"/>
          <a:lstStyle/>
          <a:p>
            <a:pPr indent="0" marL="0">
              <a:buNone/>
            </a:pPr>
            <a:r>
              <a:rPr lang="en-US" sz="1400" b="1" dirty="0">
                <a:solidFill>
                  <a:srgbClr val="0F6E56"/>
                </a:solidFill>
                <a:latin typeface="Calibri" pitchFamily="34" charset="0"/>
                <a:ea typeface="Calibri" pitchFamily="34" charset="-122"/>
                <a:cs typeface="Calibri" pitchFamily="34" charset="-120"/>
              </a:rPr>
              <a:t>No leakage (verified)
</a:t>
            </a:r>
            <a:endParaRPr lang="en-US" sz="1400" dirty="0"/>
          </a:p>
          <a:p>
            <a:pPr indent="0" marL="0">
              <a:buNone/>
            </a:pPr>
            <a:r>
              <a:rPr lang="en-US" sz="1200" dirty="0">
                <a:solidFill>
                  <a:srgbClr val="1A2E29"/>
                </a:solidFill>
                <a:latin typeface="Calibri" pitchFamily="34" charset="0"/>
                <a:ea typeface="Calibri" pitchFamily="34" charset="-122"/>
                <a:cs typeface="Calibri" pitchFamily="34" charset="-120"/>
              </a:rPr>
              <a:t>Train = front block [0, 15000); validation = tail block [99500, 100000). Disjoint indices AND 0 shared sequences — asserted at runtime.</a:t>
            </a:r>
            <a:endParaRPr lang="en-US" sz="1400" dirty="0"/>
          </a:p>
        </p:txBody>
      </p:sp>
      <p:sp>
        <p:nvSpPr>
          <p:cNvPr id="9" name="Shape 6"/>
          <p:cNvSpPr/>
          <p:nvPr/>
        </p:nvSpPr>
        <p:spPr>
          <a:xfrm>
            <a:off x="7680960" y="3657600"/>
            <a:ext cx="3977640" cy="1783080"/>
          </a:xfrm>
          <a:prstGeom prst="roundRect">
            <a:avLst>
              <a:gd name="adj" fmla="val 5128"/>
            </a:avLst>
          </a:prstGeom>
          <a:solidFill>
            <a:srgbClr val="0F6E56"/>
          </a:solidFill>
          <a:ln/>
        </p:spPr>
      </p:sp>
      <p:sp>
        <p:nvSpPr>
          <p:cNvPr id="10" name="Text 7"/>
          <p:cNvSpPr/>
          <p:nvPr/>
        </p:nvSpPr>
        <p:spPr>
          <a:xfrm>
            <a:off x="7909560" y="3767328"/>
            <a:ext cx="3566160" cy="1600200"/>
          </a:xfrm>
          <a:prstGeom prst="rect">
            <a:avLst/>
          </a:prstGeom>
          <a:noFill/>
          <a:ln/>
        </p:spPr>
        <p:txBody>
          <a:bodyPr wrap="square" lIns="0" tIns="0" rIns="0" bIns="0" rtlCol="0" anchor="t"/>
          <a:lstStyle/>
          <a:p>
            <a:pPr indent="0" marL="0">
              <a:buNone/>
            </a:pPr>
            <a:r>
              <a:rPr lang="en-US" sz="1300" b="1" dirty="0">
                <a:solidFill>
                  <a:srgbClr val="8FE3C6"/>
                </a:solidFill>
                <a:latin typeface="Calibri" pitchFamily="34" charset="0"/>
                <a:ea typeface="Calibri" pitchFamily="34" charset="-122"/>
                <a:cs typeface="Calibri" pitchFamily="34" charset="-120"/>
              </a:rPr>
              <a:t>Why SBI if the likelihood is tractable?
</a:t>
            </a:r>
            <a:endParaRPr lang="en-US" sz="1300" dirty="0"/>
          </a:p>
          <a:p>
            <a:pPr indent="0" marL="0">
              <a:buNone/>
            </a:pPr>
            <a:r>
              <a:rPr lang="en-US" sz="1150" dirty="0">
                <a:solidFill>
                  <a:srgbClr val="FFFFFF"/>
                </a:solidFill>
                <a:latin typeface="Calibri" pitchFamily="34" charset="0"/>
                <a:ea typeface="Calibri" pitchFamily="34" charset="-122"/>
                <a:cs typeface="Calibri" pitchFamily="34" charset="-120"/>
              </a:rPr>
              <a:t>Because tractability is the point. The exact posterior is KNOWN here, so we can verify the amortized estimator is faithful — validation that is impossible in a real SBI problem.</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INSULIN &amp; REAL EVALUATION</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Held-out real protein: wild-type insulin (1MSO)</a:t>
            </a:r>
            <a:endParaRPr lang="en-US" sz="2700" dirty="0"/>
          </a:p>
        </p:txBody>
      </p:sp>
      <p:pic>
        <p:nvPicPr>
          <p:cNvPr id="6" name="Image 0" descr="D:/SBI/restart/figures/insulin_1MSO_slide.png">    </p:cNvPr>
          <p:cNvPicPr>
            <a:picLocks noChangeAspect="1"/>
          </p:cNvPicPr>
          <p:nvPr/>
        </p:nvPicPr>
        <p:blipFill>
          <a:blip r:embed="rId1"/>
          <a:stretch>
            <a:fillRect/>
          </a:stretch>
        </p:blipFill>
        <p:spPr>
          <a:xfrm>
            <a:off x="4892040" y="1783080"/>
            <a:ext cx="6583680" cy="3831336"/>
          </a:xfrm>
          <a:prstGeom prst="rect">
            <a:avLst/>
          </a:prstGeom>
        </p:spPr>
      </p:pic>
      <p:sp>
        <p:nvSpPr>
          <p:cNvPr id="7" name="Text 4"/>
          <p:cNvSpPr/>
          <p:nvPr/>
        </p:nvSpPr>
        <p:spPr>
          <a:xfrm>
            <a:off x="4892040" y="5715000"/>
            <a:ext cx="6583680" cy="457200"/>
          </a:xfrm>
          <a:prstGeom prst="rect">
            <a:avLst/>
          </a:prstGeom>
          <a:noFill/>
          <a:ln/>
        </p:spPr>
        <p:txBody>
          <a:bodyPr wrap="square" lIns="0" tIns="0" rIns="0" bIns="0" rtlCol="0" anchor="ctr"/>
          <a:lstStyle/>
          <a:p>
            <a:pPr algn="ctr" indent="0" marL="0">
              <a:buNone/>
            </a:pPr>
            <a:r>
              <a:rPr lang="en-US" sz="1100" i="1" dirty="0">
                <a:solidFill>
                  <a:srgbClr val="5B6B66"/>
                </a:solidFill>
                <a:latin typeface="Calibri" pitchFamily="34" charset="0"/>
                <a:ea typeface="Calibri" pitchFamily="34" charset="-122"/>
                <a:cs typeface="Calibri" pitchFamily="34" charset="-120"/>
              </a:rPr>
              <a:t>Fig 5. Insulin P(helix): BayesFlow (green) vs exact FB (black); gold = true helix.</a:t>
            </a:r>
            <a:endParaRPr lang="en-US" sz="1100" dirty="0"/>
          </a:p>
        </p:txBody>
      </p:sp>
      <p:sp>
        <p:nvSpPr>
          <p:cNvPr id="8" name="Text 5"/>
          <p:cNvSpPr/>
          <p:nvPr/>
        </p:nvSpPr>
        <p:spPr>
          <a:xfrm>
            <a:off x="457200" y="1828800"/>
            <a:ext cx="4297680" cy="4206240"/>
          </a:xfrm>
          <a:prstGeom prst="rect">
            <a:avLst/>
          </a:prstGeom>
          <a:noFill/>
          <a:ln/>
        </p:spPr>
        <p:txBody>
          <a:bodyPr wrap="square" rtlCol="0" anchor="t"/>
          <a:lstStyle/>
          <a:p>
            <a:pPr marL="177800" indent="-177800">
              <a:spcAft>
                <a:spcPts val="800"/>
              </a:spcAft>
              <a:buSzPct val="100000"/>
              <a:buChar char="•"/>
            </a:pPr>
            <a:r>
              <a:rPr lang="en-US" sz="1250" dirty="0">
                <a:solidFill>
                  <a:srgbClr val="1A2E29"/>
                </a:solidFill>
                <a:latin typeface="Calibri" pitchFamily="34" charset="0"/>
                <a:ea typeface="Calibri" pitchFamily="34" charset="-122"/>
                <a:cs typeface="Calibri" pitchFamily="34" charset="-120"/>
              </a:rPr>
              <a:t>Insulin + true DSSP labels from the dataset; model trained ONLY on simulated data (unseen).</a:t>
            </a:r>
            <a:endParaRPr lang="en-US" sz="1250" dirty="0"/>
          </a:p>
          <a:p>
            <a:pPr marL="177800" indent="-177800">
              <a:spcAft>
                <a:spcPts val="800"/>
              </a:spcAft>
              <a:buSzPct val="100000"/>
              <a:buChar char="•"/>
            </a:pPr>
            <a:r>
              <a:rPr lang="en-US" sz="1250" dirty="0">
                <a:solidFill>
                  <a:srgbClr val="1A2E29"/>
                </a:solidFill>
                <a:latin typeface="Calibri" pitchFamily="34" charset="0"/>
                <a:ea typeface="Calibri" pitchFamily="34" charset="-122"/>
                <a:cs typeface="Calibri" pitchFamily="34" charset="-120"/>
              </a:rPr>
              <a:t>B-chain: AUC 0.98 [95% CI 0.93–1.00] — robust, excludes chance. Its helix is propensity-driven (L,V,E,A).</a:t>
            </a:r>
            <a:endParaRPr lang="en-US" sz="1250" dirty="0"/>
          </a:p>
          <a:p>
            <a:pPr marL="177800" indent="-177800">
              <a:spcAft>
                <a:spcPts val="800"/>
              </a:spcAft>
              <a:buSzPct val="100000"/>
              <a:buChar char="•"/>
            </a:pPr>
            <a:r>
              <a:rPr lang="en-US" sz="1250" dirty="0">
                <a:solidFill>
                  <a:srgbClr val="1A2E29"/>
                </a:solidFill>
                <a:latin typeface="Calibri" pitchFamily="34" charset="0"/>
                <a:ea typeface="Calibri" pitchFamily="34" charset="-122"/>
                <a:cs typeface="Calibri" pitchFamily="34" charset="-120"/>
              </a:rPr>
              <a:t>A-chain: AUC 0.53 [95% CI 0.25–0.79] — CI straddles chance, so n=21 residues can’t settle it.</a:t>
            </a:r>
            <a:endParaRPr lang="en-US" sz="1250" dirty="0"/>
          </a:p>
          <a:p>
            <a:pPr marL="177800" indent="-177800">
              <a:spcAft>
                <a:spcPts val="800"/>
              </a:spcAft>
              <a:buSzPct val="100000"/>
              <a:buChar char="•"/>
            </a:pPr>
            <a:r>
              <a:rPr lang="en-US" sz="1250" dirty="0">
                <a:solidFill>
                  <a:srgbClr val="1A2E29"/>
                </a:solidFill>
                <a:latin typeface="Calibri" pitchFamily="34" charset="0"/>
                <a:ea typeface="Calibri" pitchFamily="34" charset="-122"/>
                <a:cs typeface="Calibri" pitchFamily="34" charset="-120"/>
              </a:rPr>
              <a:t>Hypothesis consistent with the data: the A-chain helix is disulfide-stabilised &amp; Cys-rich, and C disfavours helix in our table — a sequence-only HMM cannot see 3-D bonds.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INSULIN &amp; REAL EVALUATION</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Real-data headline: all PISCES proteins</a:t>
            </a:r>
            <a:endParaRPr lang="en-US" sz="2700" dirty="0"/>
          </a:p>
        </p:txBody>
      </p:sp>
      <p:pic>
        <p:nvPicPr>
          <p:cNvPr id="6" name="Image 0" descr="D:/SBI/restart/figures/real_eval_auc_hist.png">    </p:cNvPr>
          <p:cNvPicPr>
            <a:picLocks noChangeAspect="1"/>
          </p:cNvPicPr>
          <p:nvPr/>
        </p:nvPicPr>
        <p:blipFill>
          <a:blip r:embed="rId1"/>
          <a:stretch>
            <a:fillRect/>
          </a:stretch>
        </p:blipFill>
        <p:spPr>
          <a:xfrm>
            <a:off x="5760720" y="1828800"/>
            <a:ext cx="5669280" cy="3648456"/>
          </a:xfrm>
          <a:prstGeom prst="rect">
            <a:avLst/>
          </a:prstGeom>
        </p:spPr>
      </p:pic>
      <p:sp>
        <p:nvSpPr>
          <p:cNvPr id="7" name="Text 4"/>
          <p:cNvSpPr/>
          <p:nvPr/>
        </p:nvSpPr>
        <p:spPr>
          <a:xfrm>
            <a:off x="5760720" y="5532120"/>
            <a:ext cx="5669280" cy="457200"/>
          </a:xfrm>
          <a:prstGeom prst="rect">
            <a:avLst/>
          </a:prstGeom>
          <a:noFill/>
          <a:ln/>
        </p:spPr>
        <p:txBody>
          <a:bodyPr wrap="square" lIns="0" tIns="0" rIns="0" bIns="0" rtlCol="0" anchor="ctr"/>
          <a:lstStyle/>
          <a:p>
            <a:pPr algn="ctr" indent="0" marL="0">
              <a:buNone/>
            </a:pPr>
            <a:r>
              <a:rPr lang="en-US" sz="1100" i="1" dirty="0">
                <a:solidFill>
                  <a:srgbClr val="5B6B66"/>
                </a:solidFill>
                <a:latin typeface="Calibri" pitchFamily="34" charset="0"/>
                <a:ea typeface="Calibri" pitchFamily="34" charset="-122"/>
                <a:cs typeface="Calibri" pitchFamily="34" charset="-120"/>
              </a:rPr>
              <a:t>Fig 6. Per-chain AUC over 8,308 real chains — the quantitative real-data claim.</a:t>
            </a:r>
            <a:endParaRPr lang="en-US" sz="1100" dirty="0"/>
          </a:p>
        </p:txBody>
      </p:sp>
      <p:sp>
        <p:nvSpPr>
          <p:cNvPr id="8" name="Text 5"/>
          <p:cNvSpPr/>
          <p:nvPr/>
        </p:nvSpPr>
        <p:spPr>
          <a:xfrm>
            <a:off x="457200" y="1874520"/>
            <a:ext cx="5029200" cy="3931920"/>
          </a:xfrm>
          <a:prstGeom prst="rect">
            <a:avLst/>
          </a:prstGeom>
          <a:noFill/>
          <a:ln/>
        </p:spPr>
        <p:txBody>
          <a:bodyPr wrap="square" rtlCol="0" anchor="t"/>
          <a:lstStyle/>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This — not insulin — is the real-data evidence: 8,308 chains, 2.2M residues.</a:t>
            </a:r>
            <a:endParaRPr lang="en-US" sz="1400" dirty="0"/>
          </a:p>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Per-chain AUC 0.753, 95% CI [0.750, 0.756]; 96.7% of chains beat chance.</a:t>
            </a:r>
            <a:endParaRPr lang="en-US" sz="1400" dirty="0"/>
          </a:p>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BayesFlow = exact FB (0.754); a simple sequence-only HMM ranks helices well.</a:t>
            </a:r>
            <a:endParaRPr lang="en-US" sz="1400" dirty="0"/>
          </a:p>
          <a:p>
            <a:pPr marL="177800" indent="-177800">
              <a:spcAft>
                <a:spcPts val="800"/>
              </a:spcAft>
              <a:buSzPct val="100000"/>
              <a:buChar char="•"/>
            </a:pPr>
            <a:r>
              <a:rPr lang="en-US" sz="1400" dirty="0">
                <a:solidFill>
                  <a:srgbClr val="1A2E29"/>
                </a:solidFill>
                <a:latin typeface="Calibri" pitchFamily="34" charset="0"/>
                <a:ea typeface="Calibri" pitchFamily="34" charset="-122"/>
                <a:cs typeface="Calibri" pitchFamily="34" charset="-120"/>
              </a:rPr>
              <a:t>AUC &gt; accuracy: the HMM isn’t calibrated to reality → use ranking.</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COMPARISON &amp; RESULTS</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Result 1: the neural posterior reproduces exact inference</a:t>
            </a:r>
            <a:endParaRPr lang="en-US" sz="2700" dirty="0"/>
          </a:p>
        </p:txBody>
      </p:sp>
      <p:pic>
        <p:nvPicPr>
          <p:cNvPr id="6" name="Image 0" descr="D:/SBI/restart/figures/validation_figure.png">    </p:cNvPr>
          <p:cNvPicPr>
            <a:picLocks noChangeAspect="1"/>
          </p:cNvPicPr>
          <p:nvPr/>
        </p:nvPicPr>
        <p:blipFill>
          <a:blip r:embed="rId1"/>
          <a:stretch>
            <a:fillRect/>
          </a:stretch>
        </p:blipFill>
        <p:spPr>
          <a:xfrm>
            <a:off x="1234440" y="1645920"/>
            <a:ext cx="9692640" cy="3730752"/>
          </a:xfrm>
          <a:prstGeom prst="rect">
            <a:avLst/>
          </a:prstGeom>
        </p:spPr>
      </p:pic>
      <p:sp>
        <p:nvSpPr>
          <p:cNvPr id="7" name="Text 4"/>
          <p:cNvSpPr/>
          <p:nvPr/>
        </p:nvSpPr>
        <p:spPr>
          <a:xfrm>
            <a:off x="1234440" y="5394960"/>
            <a:ext cx="9692640" cy="457200"/>
          </a:xfrm>
          <a:prstGeom prst="rect">
            <a:avLst/>
          </a:prstGeom>
          <a:noFill/>
          <a:ln/>
        </p:spPr>
        <p:txBody>
          <a:bodyPr wrap="square" lIns="0" tIns="0" rIns="0" bIns="0" rtlCol="0" anchor="ctr"/>
          <a:lstStyle/>
          <a:p>
            <a:pPr algn="ctr" indent="0" marL="0">
              <a:buNone/>
            </a:pPr>
            <a:r>
              <a:rPr lang="en-US" sz="1100" i="1" dirty="0">
                <a:solidFill>
                  <a:srgbClr val="5B6B66"/>
                </a:solidFill>
                <a:latin typeface="Calibri" pitchFamily="34" charset="0"/>
                <a:ea typeface="Calibri" pitchFamily="34" charset="-122"/>
                <a:cs typeface="Calibri" pitchFamily="34" charset="-120"/>
              </a:rPr>
              <a:t>Fig 7. Left: BayesFlow mean vs exact FB (r=0.999). Right: an example chain with the ±1 std band.</a:t>
            </a:r>
            <a:endParaRPr lang="en-US" sz="1100" dirty="0"/>
          </a:p>
        </p:txBody>
      </p:sp>
      <p:sp>
        <p:nvSpPr>
          <p:cNvPr id="8" name="Text 5"/>
          <p:cNvSpPr/>
          <p:nvPr/>
        </p:nvSpPr>
        <p:spPr>
          <a:xfrm>
            <a:off x="640080" y="5943600"/>
            <a:ext cx="10972800" cy="640080"/>
          </a:xfrm>
          <a:prstGeom prst="rect">
            <a:avLst/>
          </a:prstGeom>
          <a:noFill/>
          <a:ln/>
        </p:spPr>
        <p:txBody>
          <a:bodyPr wrap="square" lIns="0" tIns="0" rIns="0" bIns="0" rtlCol="0" anchor="ctr"/>
          <a:lstStyle/>
          <a:p>
            <a:pPr algn="ctr" indent="0" marL="0">
              <a:buNone/>
            </a:pPr>
            <a:r>
              <a:rPr lang="en-US" sz="1400" b="1" dirty="0">
                <a:solidFill>
                  <a:srgbClr val="0F6E56"/>
                </a:solidFill>
                <a:latin typeface="Calibri" pitchFamily="34" charset="0"/>
                <a:ea typeface="Calibri" pitchFamily="34" charset="-122"/>
                <a:cs typeface="Calibri" pitchFamily="34" charset="-120"/>
              </a:rPr>
              <a:t>Held-out simulated chains: correlation 0.999, MAE 0.007.  </a:t>
            </a:r>
            <a:pPr algn="ctr" indent="0" marL="0">
              <a:buNone/>
            </a:pPr>
            <a:r>
              <a:rPr lang="en-US" sz="1400" dirty="0">
                <a:solidFill>
                  <a:srgbClr val="1A2E29"/>
                </a:solidFill>
                <a:latin typeface="Calibri" pitchFamily="34" charset="0"/>
                <a:ea typeface="Calibri" pitchFamily="34" charset="-122"/>
                <a:cs typeface="Calibri" pitchFamily="34" charset="-120"/>
              </a:rPr>
              <a:t>Expected, not suspicious: λ₂¹⁵ ≈ 0.09, so the ±15 window already carries nearly all the information.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COMPARISON &amp; RESULTS</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Calibration (SBC): we don’t just report it — we control it</a:t>
            </a:r>
            <a:endParaRPr lang="en-US" sz="2700" dirty="0"/>
          </a:p>
        </p:txBody>
      </p:sp>
      <p:pic>
        <p:nvPicPr>
          <p:cNvPr id="6" name="Image 0" descr="D:/SBI/restart/figures/calibration_tradeoff.png">    </p:cNvPr>
          <p:cNvPicPr>
            <a:picLocks noChangeAspect="1"/>
          </p:cNvPicPr>
          <p:nvPr/>
        </p:nvPicPr>
        <p:blipFill>
          <a:blip r:embed="rId1"/>
          <a:stretch>
            <a:fillRect/>
          </a:stretch>
        </p:blipFill>
        <p:spPr>
          <a:xfrm>
            <a:off x="1828800" y="1600200"/>
            <a:ext cx="8549640" cy="3493008"/>
          </a:xfrm>
          <a:prstGeom prst="rect">
            <a:avLst/>
          </a:prstGeom>
        </p:spPr>
      </p:pic>
      <p:sp>
        <p:nvSpPr>
          <p:cNvPr id="7" name="Text 4"/>
          <p:cNvSpPr/>
          <p:nvPr/>
        </p:nvSpPr>
        <p:spPr>
          <a:xfrm>
            <a:off x="1828800" y="5120640"/>
            <a:ext cx="8549640" cy="457200"/>
          </a:xfrm>
          <a:prstGeom prst="rect">
            <a:avLst/>
          </a:prstGeom>
          <a:noFill/>
          <a:ln/>
        </p:spPr>
        <p:txBody>
          <a:bodyPr wrap="square" lIns="0" tIns="0" rIns="0" bIns="0" rtlCol="0" anchor="ctr"/>
          <a:lstStyle/>
          <a:p>
            <a:pPr algn="ctr" indent="0" marL="0">
              <a:buNone/>
            </a:pPr>
            <a:r>
              <a:rPr lang="en-US" sz="1100" i="1" dirty="0">
                <a:solidFill>
                  <a:srgbClr val="5B6B66"/>
                </a:solidFill>
                <a:latin typeface="Calibri" pitchFamily="34" charset="0"/>
                <a:ea typeface="Calibri" pitchFamily="34" charset="-122"/>
                <a:cs typeface="Calibri" pitchFamily="34" charset="-120"/>
              </a:rPr>
              <a:t>Fig 8. SBC rank ECDF (same FlowMatching model): shrinking the window restores genuine uncertainty → SBC passes.</a:t>
            </a:r>
            <a:endParaRPr lang="en-US" sz="1100" dirty="0"/>
          </a:p>
        </p:txBody>
      </p:sp>
      <p:sp>
        <p:nvSpPr>
          <p:cNvPr id="8" name="Text 5"/>
          <p:cNvSpPr/>
          <p:nvPr/>
        </p:nvSpPr>
        <p:spPr>
          <a:xfrm>
            <a:off x="502920" y="5486400"/>
            <a:ext cx="11155680" cy="1234440"/>
          </a:xfrm>
          <a:prstGeom prst="rect">
            <a:avLst/>
          </a:prstGeom>
          <a:noFill/>
          <a:ln/>
        </p:spPr>
        <p:txBody>
          <a:bodyPr wrap="square" rtlCol="0" anchor="t"/>
          <a:lstStyle/>
          <a:p>
            <a:pPr marL="177800" indent="-177800">
              <a:spcAft>
                <a:spcPts val="800"/>
              </a:spcAft>
              <a:buSzPct val="100000"/>
              <a:buChar char="•"/>
            </a:pPr>
            <a:r>
              <a:rPr lang="en-US" sz="1150" dirty="0">
                <a:solidFill>
                  <a:srgbClr val="1A2E29"/>
                </a:solidFill>
                <a:latin typeface="Calibri" pitchFamily="34" charset="0"/>
                <a:ea typeface="Calibri" pitchFamily="34" charset="-122"/>
                <a:cs typeface="Calibri" pitchFamily="34" charset="-120"/>
              </a:rPr>
              <a:t>Convergence + recovery (r=0.998) + contraction (0.998) all excellent. SBC on the headline (W=31) model FAILS: a tiny ~0.15-SD bias (≈0.002 in probability).</a:t>
            </a:r>
            <a:endParaRPr lang="en-US" sz="1150" dirty="0"/>
          </a:p>
          <a:p>
            <a:pPr marL="177800" indent="-177800">
              <a:spcAft>
                <a:spcPts val="800"/>
              </a:spcAft>
              <a:buSzPct val="100000"/>
              <a:buChar char="•"/>
            </a:pPr>
            <a:r>
              <a:rPr lang="en-US" sz="1150" dirty="0">
                <a:solidFill>
                  <a:srgbClr val="1A2E29"/>
                </a:solidFill>
                <a:latin typeface="Calibri" pitchFamily="34" charset="0"/>
                <a:ea typeface="Calibri" pitchFamily="34" charset="-122"/>
                <a:cs typeface="Calibri" pitchFamily="34" charset="-120"/>
              </a:rPr>
              <a:t>Diagnosed: the window carries &gt;90% of the info (λ₂¹⁵≈0.09), so γ|window is near-deterministic — ANY flow struggles (two architectures fail at the same magnitude).</a:t>
            </a:r>
            <a:endParaRPr lang="en-US" sz="1150" dirty="0"/>
          </a:p>
          <a:p>
            <a:pPr marL="177800" indent="-177800">
              <a:spcAft>
                <a:spcPts val="800"/>
              </a:spcAft>
              <a:buSzPct val="100000"/>
              <a:buChar char="•"/>
            </a:pPr>
            <a:r>
              <a:rPr lang="en-US" sz="1150" dirty="0">
                <a:solidFill>
                  <a:srgbClr val="1A2E29"/>
                </a:solidFill>
                <a:latin typeface="Calibri" pitchFamily="34" charset="0"/>
                <a:ea typeface="Calibri" pitchFamily="34" charset="-122"/>
                <a:cs typeface="Calibri" pitchFamily="34" charset="-120"/>
              </a:rPr>
              <a:t>Demonstrated control: shrink the window (W=31→7) → genuine uncertainty → SBC PASSES, trading point accuracy (r 0.998→0.90). A tunable accuracy↔calibration trade-off, not a bug.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COMPARISON &amp; RESULTS</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New finding: the accuracy ↔ calibration frontier</a:t>
            </a:r>
            <a:endParaRPr lang="en-US" sz="2700" dirty="0"/>
          </a:p>
        </p:txBody>
      </p:sp>
      <p:pic>
        <p:nvPicPr>
          <p:cNvPr id="6" name="Image 0" descr="D:/SBI/restart/figures/pareto_frontier.png">    </p:cNvPr>
          <p:cNvPicPr>
            <a:picLocks noChangeAspect="1"/>
          </p:cNvPicPr>
          <p:nvPr/>
        </p:nvPicPr>
        <p:blipFill>
          <a:blip r:embed="rId1"/>
          <a:stretch>
            <a:fillRect/>
          </a:stretch>
        </p:blipFill>
        <p:spPr>
          <a:xfrm>
            <a:off x="1243584" y="1572768"/>
            <a:ext cx="9692640" cy="3730752"/>
          </a:xfrm>
          <a:prstGeom prst="rect">
            <a:avLst/>
          </a:prstGeom>
        </p:spPr>
      </p:pic>
      <p:sp>
        <p:nvSpPr>
          <p:cNvPr id="7" name="Text 4"/>
          <p:cNvSpPr/>
          <p:nvPr/>
        </p:nvSpPr>
        <p:spPr>
          <a:xfrm>
            <a:off x="1243584" y="5340096"/>
            <a:ext cx="9692640" cy="457200"/>
          </a:xfrm>
          <a:prstGeom prst="rect">
            <a:avLst/>
          </a:prstGeom>
          <a:noFill/>
          <a:ln/>
        </p:spPr>
        <p:txBody>
          <a:bodyPr wrap="square" lIns="0" tIns="0" rIns="0" bIns="0" rtlCol="0" anchor="ctr"/>
          <a:lstStyle/>
          <a:p>
            <a:pPr algn="ctr" indent="0" marL="0">
              <a:buNone/>
            </a:pPr>
            <a:r>
              <a:rPr lang="en-US" sz="1100" i="1" dirty="0">
                <a:solidFill>
                  <a:srgbClr val="5B6B66"/>
                </a:solidFill>
                <a:latin typeface="Calibri" pitchFamily="34" charset="0"/>
                <a:ea typeface="Calibri" pitchFamily="34" charset="-122"/>
                <a:cs typeface="Calibri" pitchFamily="34" charset="-120"/>
              </a:rPr>
              <a:t>Fig 9. Window-size sweep: point accuracy (r) and miscalibration (SBC-KS) for W = 7…31.</a:t>
            </a:r>
            <a:endParaRPr lang="en-US" sz="1100" dirty="0"/>
          </a:p>
        </p:txBody>
      </p:sp>
      <p:sp>
        <p:nvSpPr>
          <p:cNvPr id="8" name="Text 5"/>
          <p:cNvSpPr/>
          <p:nvPr/>
        </p:nvSpPr>
        <p:spPr>
          <a:xfrm>
            <a:off x="502920" y="5623560"/>
            <a:ext cx="11155680" cy="1097280"/>
          </a:xfrm>
          <a:prstGeom prst="rect">
            <a:avLst/>
          </a:prstGeom>
          <a:noFill/>
          <a:ln/>
        </p:spPr>
        <p:txBody>
          <a:bodyPr wrap="square" rtlCol="0" anchor="t"/>
          <a:lstStyle/>
          <a:p>
            <a:pPr marL="177800" indent="-177800">
              <a:spcAft>
                <a:spcPts val="800"/>
              </a:spcAft>
              <a:buSzPct val="100000"/>
              <a:buChar char="•"/>
            </a:pPr>
            <a:r>
              <a:rPr lang="en-US" sz="1200" dirty="0">
                <a:solidFill>
                  <a:srgbClr val="1A2E29"/>
                </a:solidFill>
                <a:latin typeface="Calibri" pitchFamily="34" charset="0"/>
                <a:ea typeface="Calibri" pitchFamily="34" charset="-122"/>
                <a:cs typeface="Calibri" pitchFamily="34" charset="-120"/>
              </a:rPr>
              <a:t>We swept the window over 5 sizes and measured BOTH point accuracy (r) and calibration (SBC-KS) on held-out chains.</a:t>
            </a:r>
            <a:endParaRPr lang="en-US" sz="1200" dirty="0"/>
          </a:p>
          <a:p>
            <a:pPr marL="177800" indent="-177800">
              <a:spcAft>
                <a:spcPts val="800"/>
              </a:spcAft>
              <a:buSzPct val="100000"/>
              <a:buChar char="•"/>
            </a:pPr>
            <a:r>
              <a:rPr lang="en-US" sz="1200" dirty="0">
                <a:solidFill>
                  <a:srgbClr val="1A2E29"/>
                </a:solidFill>
                <a:latin typeface="Calibri" pitchFamily="34" charset="0"/>
                <a:ea typeface="Calibri" pitchFamily="34" charset="-122"/>
                <a:cs typeface="Calibri" pitchFamily="34" charset="-120"/>
              </a:rPr>
              <a:t>Accuracy rises monotonically with W; calibration is best at W≈11–15, then degrades sharply (2–3×) beyond it.</a:t>
            </a:r>
            <a:endParaRPr lang="en-US" sz="1200" dirty="0"/>
          </a:p>
          <a:p>
            <a:pPr marL="177800" indent="-177800">
              <a:spcAft>
                <a:spcPts val="800"/>
              </a:spcAft>
              <a:buSzPct val="100000"/>
              <a:buChar char="•"/>
            </a:pPr>
            <a:r>
              <a:rPr lang="en-US" sz="1200" dirty="0">
                <a:solidFill>
                  <a:srgbClr val="1A2E29"/>
                </a:solidFill>
                <a:latin typeface="Calibri" pitchFamily="34" charset="0"/>
                <a:ea typeface="Calibri" pitchFamily="34" charset="-122"/>
                <a:cs typeface="Calibri" pitchFamily="34" charset="-120"/>
              </a:rPr>
              <a:t>So the headline W=31 model is OVER-TUNED for accuracy: +0.02 r costs +0.10 KS. W≈15 is near-Pareto-optimal (r=0.976 with the best calibration) — the trade-off is a design knob, not a bug.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475488" cy="475488"/>
          </a:xfrm>
          <a:prstGeom prst="ellipse">
            <a:avLst/>
          </a:prstGeom>
          <a:solidFill>
            <a:srgbClr val="1D9E75"/>
          </a:solidFill>
          <a:ln/>
        </p:spPr>
      </p:sp>
      <p:sp>
        <p:nvSpPr>
          <p:cNvPr id="3" name="Text 1"/>
          <p:cNvSpPr/>
          <p:nvPr/>
        </p:nvSpPr>
        <p:spPr>
          <a:xfrm>
            <a:off x="457200" y="3108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051560" y="329184"/>
            <a:ext cx="8229600" cy="438912"/>
          </a:xfrm>
          <a:prstGeom prst="rect">
            <a:avLst/>
          </a:prstGeom>
          <a:noFill/>
          <a:ln/>
        </p:spPr>
        <p:txBody>
          <a:bodyPr wrap="square" lIns="0" tIns="0" rIns="0" bIns="0"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COMPARISON &amp; RESULTS</a:t>
            </a:r>
            <a:endParaRPr lang="en-US" sz="1300" dirty="0"/>
          </a:p>
        </p:txBody>
      </p:sp>
      <p:sp>
        <p:nvSpPr>
          <p:cNvPr id="5" name="Text 3"/>
          <p:cNvSpPr/>
          <p:nvPr/>
        </p:nvSpPr>
        <p:spPr>
          <a:xfrm>
            <a:off x="457200" y="896112"/>
            <a:ext cx="11247120" cy="731520"/>
          </a:xfrm>
          <a:prstGeom prst="rect">
            <a:avLst/>
          </a:prstGeom>
          <a:noFill/>
          <a:ln/>
        </p:spPr>
        <p:txBody>
          <a:bodyPr wrap="square" lIns="0" tIns="0" rIns="0" bIns="0" rtlCol="0" anchor="ctr"/>
          <a:lstStyle/>
          <a:p>
            <a:pPr indent="0" marL="0">
              <a:buNone/>
            </a:pPr>
            <a:r>
              <a:rPr lang="en-US" sz="2700" b="1" dirty="0">
                <a:solidFill>
                  <a:srgbClr val="0F6E56"/>
                </a:solidFill>
                <a:latin typeface="Cambria" pitchFamily="34" charset="0"/>
                <a:ea typeface="Cambria" pitchFamily="34" charset="-122"/>
                <a:cs typeface="Cambria" pitchFamily="34" charset="-120"/>
              </a:rPr>
              <a:t>Results at a glance</a:t>
            </a:r>
            <a:endParaRPr lang="en-US" sz="2700" dirty="0"/>
          </a:p>
        </p:txBody>
      </p:sp>
      <p:pic>
        <p:nvPicPr>
          <p:cNvPr id="6" name="Image 0" descr="D:/SBI/restart/figures/comparison_table.png">    </p:cNvPr>
          <p:cNvPicPr>
            <a:picLocks noChangeAspect="1"/>
          </p:cNvPicPr>
          <p:nvPr/>
        </p:nvPicPr>
        <p:blipFill>
          <a:blip r:embed="rId1"/>
          <a:stretch>
            <a:fillRect/>
          </a:stretch>
        </p:blipFill>
        <p:spPr>
          <a:xfrm>
            <a:off x="960120" y="1783080"/>
            <a:ext cx="10241280" cy="2560320"/>
          </a:xfrm>
          <a:prstGeom prst="rect">
            <a:avLst/>
          </a:prstGeom>
        </p:spPr>
      </p:pic>
      <p:sp>
        <p:nvSpPr>
          <p:cNvPr id="7" name="Text 4"/>
          <p:cNvSpPr/>
          <p:nvPr/>
        </p:nvSpPr>
        <p:spPr>
          <a:xfrm>
            <a:off x="960120" y="4434840"/>
            <a:ext cx="10241280" cy="457200"/>
          </a:xfrm>
          <a:prstGeom prst="rect">
            <a:avLst/>
          </a:prstGeom>
          <a:noFill/>
          <a:ln/>
        </p:spPr>
        <p:txBody>
          <a:bodyPr wrap="square" lIns="0" tIns="0" rIns="0" bIns="0" rtlCol="0" anchor="ctr"/>
          <a:lstStyle/>
          <a:p>
            <a:pPr algn="ctr" indent="0" marL="0">
              <a:buNone/>
            </a:pPr>
            <a:r>
              <a:rPr lang="en-US" sz="1100" i="1" dirty="0">
                <a:solidFill>
                  <a:srgbClr val="5B6B66"/>
                </a:solidFill>
                <a:latin typeface="Calibri" pitchFamily="34" charset="0"/>
                <a:ea typeface="Calibri" pitchFamily="34" charset="-122"/>
                <a:cs typeface="Calibri" pitchFamily="34" charset="-120"/>
              </a:rPr>
              <a:t>Table 1. AUC &amp; accuracy@0.5 vs the majority-class baseline — BayesFlow vs exact FB.</a:t>
            </a:r>
            <a:endParaRPr lang="en-US" sz="1100" dirty="0"/>
          </a:p>
        </p:txBody>
      </p:sp>
      <p:sp>
        <p:nvSpPr>
          <p:cNvPr id="8" name="Text 5"/>
          <p:cNvSpPr/>
          <p:nvPr/>
        </p:nvSpPr>
        <p:spPr>
          <a:xfrm>
            <a:off x="1005840" y="4846320"/>
            <a:ext cx="10149840" cy="1737360"/>
          </a:xfrm>
          <a:prstGeom prst="rect">
            <a:avLst/>
          </a:prstGeom>
          <a:noFill/>
          <a:ln/>
        </p:spPr>
        <p:txBody>
          <a:bodyPr wrap="square" rtlCol="0" anchor="t"/>
          <a:lstStyle/>
          <a:p>
            <a:pPr marL="177800" indent="-177800">
              <a:spcAft>
                <a:spcPts val="800"/>
              </a:spcAft>
              <a:buSzPct val="100000"/>
              <a:buChar char="•"/>
            </a:pPr>
            <a:r>
              <a:rPr lang="en-US" sz="1300" dirty="0">
                <a:solidFill>
                  <a:srgbClr val="1A2E29"/>
                </a:solidFill>
                <a:latin typeface="Calibri" pitchFamily="34" charset="0"/>
                <a:ea typeface="Calibri" pitchFamily="34" charset="-122"/>
                <a:cs typeface="Calibri" pitchFamily="34" charset="-120"/>
              </a:rPr>
              <a:t>BayesFlow ≈ exact FB in every setting — faithful amortization.</a:t>
            </a:r>
            <a:endParaRPr lang="en-US" sz="1300" dirty="0"/>
          </a:p>
          <a:p>
            <a:pPr marL="177800" indent="-177800">
              <a:spcAft>
                <a:spcPts val="800"/>
              </a:spcAft>
              <a:buSzPct val="100000"/>
              <a:buChar char="•"/>
            </a:pPr>
            <a:r>
              <a:rPr lang="en-US" sz="1300" dirty="0">
                <a:solidFill>
                  <a:srgbClr val="1A2E29"/>
                </a:solidFill>
                <a:latin typeface="Calibri" pitchFamily="34" charset="0"/>
                <a:ea typeface="Calibri" pitchFamily="34" charset="-122"/>
                <a:cs typeface="Calibri" pitchFamily="34" charset="-120"/>
              </a:rPr>
              <a:t>Accuracy@0.5 barely clears the majority-class baseline on real data (0.728 vs 0.708) and ties/loses on insulin → AUC is the fair metric, not accuracy.</a:t>
            </a:r>
            <a:endParaRPr lang="en-US" sz="1300" dirty="0"/>
          </a:p>
          <a:p>
            <a:pPr marL="177800" indent="-177800">
              <a:spcAft>
                <a:spcPts val="800"/>
              </a:spcAft>
              <a:buSzPct val="100000"/>
              <a:buChar char="•"/>
            </a:pPr>
            <a:r>
              <a:rPr lang="en-US" sz="1300" dirty="0">
                <a:solidFill>
                  <a:srgbClr val="1A2E29"/>
                </a:solidFill>
                <a:latin typeface="Calibri" pitchFamily="34" charset="0"/>
                <a:ea typeface="Calibri" pitchFamily="34" charset="-122"/>
                <a:cs typeface="Calibri" pitchFamily="34" charset="-120"/>
              </a:rPr>
              <a:t>FB is a ceiling on SIMULATED data only; on real proteins the HMM is misspecified, so a better model can beat it.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3B2E"/>
        </a:solidFill>
      </p:bgPr>
    </p:bg>
    <p:spTree>
      <p:nvGrpSpPr>
        <p:cNvPr id="1" name=""/>
        <p:cNvGrpSpPr/>
        <p:nvPr/>
      </p:nvGrpSpPr>
      <p:grpSpPr>
        <a:xfrm>
          <a:off x="0" y="0"/>
          <a:ext cx="0" cy="0"/>
          <a:chOff x="0" y="0"/>
          <a:chExt cx="0" cy="0"/>
        </a:xfrm>
      </p:grpSpPr>
      <p:sp>
        <p:nvSpPr>
          <p:cNvPr id="2" name="Text 0"/>
          <p:cNvSpPr/>
          <p:nvPr/>
        </p:nvSpPr>
        <p:spPr>
          <a:xfrm>
            <a:off x="8595360" y="182880"/>
            <a:ext cx="3657600" cy="6400800"/>
          </a:xfrm>
          <a:prstGeom prst="rect">
            <a:avLst/>
          </a:prstGeom>
          <a:noFill/>
          <a:ln/>
        </p:spPr>
        <p:txBody>
          <a:bodyPr wrap="square" lIns="0" tIns="0" rIns="0" bIns="0" rtlCol="0" anchor="ctr"/>
          <a:lstStyle/>
          <a:p>
            <a:pPr algn="ctr" indent="0" marL="0">
              <a:buNone/>
            </a:pPr>
            <a:r>
              <a:rPr lang="en-US" sz="34000" b="1" dirty="0">
                <a:solidFill>
                  <a:srgbClr val="13463A"/>
                </a:solidFill>
                <a:latin typeface="Cambria" pitchFamily="34" charset="0"/>
                <a:ea typeface="Cambria" pitchFamily="34" charset="-122"/>
                <a:cs typeface="Cambria" pitchFamily="34" charset="-120"/>
              </a:rPr>
              <a:t>α</a:t>
            </a:r>
            <a:endParaRPr lang="en-US" sz="34000" dirty="0"/>
          </a:p>
        </p:txBody>
      </p:sp>
      <p:sp>
        <p:nvSpPr>
          <p:cNvPr id="3" name="Text 1"/>
          <p:cNvSpPr/>
          <p:nvPr/>
        </p:nvSpPr>
        <p:spPr>
          <a:xfrm>
            <a:off x="640080" y="64008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TL;DR — take-home message</a:t>
            </a:r>
            <a:endParaRPr lang="en-US" sz="3000" dirty="0"/>
          </a:p>
        </p:txBody>
      </p:sp>
      <p:sp>
        <p:nvSpPr>
          <p:cNvPr id="4" name="Text 2"/>
          <p:cNvSpPr/>
          <p:nvPr/>
        </p:nvSpPr>
        <p:spPr>
          <a:xfrm>
            <a:off x="685800" y="1554480"/>
            <a:ext cx="10607040" cy="3383280"/>
          </a:xfrm>
          <a:prstGeom prst="rect">
            <a:avLst/>
          </a:prstGeom>
          <a:noFill/>
          <a:ln/>
        </p:spPr>
        <p:txBody>
          <a:bodyPr wrap="square" rtlCol="0" anchor="t"/>
          <a:lstStyle/>
          <a:p>
            <a:pPr marL="177800" indent="-177800">
              <a:spcAft>
                <a:spcPts val="1100"/>
              </a:spcAft>
              <a:buSzPct val="100000"/>
              <a:buChar char="•"/>
            </a:pPr>
            <a:r>
              <a:rPr lang="en-US" sz="1600" dirty="0">
                <a:solidFill>
                  <a:srgbClr val="FFFFFF"/>
                </a:solidFill>
                <a:latin typeface="Calibri" pitchFamily="34" charset="0"/>
                <a:ea typeface="Calibri" pitchFamily="34" charset="-122"/>
                <a:cs typeface="Calibri" pitchFamily="34" charset="-120"/>
              </a:rPr>
              <a:t>α-helix as a 2-state HMM whose transition AND emission tables match real proteins (r ≈ 0.99).</a:t>
            </a:r>
            <a:endParaRPr lang="en-US" sz="1600" dirty="0"/>
          </a:p>
          <a:p>
            <a:pPr marL="177800" indent="-177800">
              <a:spcAft>
                <a:spcPts val="1100"/>
              </a:spcAft>
              <a:buSzPct val="100000"/>
              <a:buChar char="•"/>
            </a:pPr>
            <a:r>
              <a:rPr lang="en-US" sz="1600" dirty="0">
                <a:solidFill>
                  <a:srgbClr val="FFFFFF"/>
                </a:solidFill>
                <a:latin typeface="Calibri" pitchFamily="34" charset="0"/>
                <a:ea typeface="Calibri" pitchFamily="34" charset="-122"/>
                <a:cs typeface="Calibri" pitchFamily="34" charset="-120"/>
              </a:rPr>
              <a:t>The likelihood is tractable by design: because the exact posterior is known, we can verify the amortized estimator is faithful — it reproduces exact FB at r = 0.999 (validation impossible in a real SBI problem).</a:t>
            </a:r>
            <a:endParaRPr lang="en-US" sz="1600" dirty="0"/>
          </a:p>
          <a:p>
            <a:pPr marL="177800" indent="-177800">
              <a:spcAft>
                <a:spcPts val="1100"/>
              </a:spcAft>
              <a:buSzPct val="100000"/>
              <a:buChar char="•"/>
            </a:pPr>
            <a:r>
              <a:rPr lang="en-US" sz="1600" dirty="0">
                <a:solidFill>
                  <a:srgbClr val="FFFFFF"/>
                </a:solidFill>
                <a:latin typeface="Calibri" pitchFamily="34" charset="0"/>
                <a:ea typeface="Calibri" pitchFamily="34" charset="-122"/>
                <a:cs typeface="Calibri" pitchFamily="34" charset="-120"/>
              </a:rPr>
              <a:t>Diagnostics: SBC reveals a calibration bias on the headline model — but a window-size sweep shows it is a TUNABLE accuracy↔calibration trade-off (best at W≈15), not a bug.</a:t>
            </a:r>
            <a:endParaRPr lang="en-US" sz="1600" dirty="0"/>
          </a:p>
          <a:p>
            <a:pPr marL="177800" indent="-177800">
              <a:buSzPct val="100000"/>
              <a:buChar char="•"/>
            </a:pPr>
            <a:r>
              <a:rPr lang="en-US" sz="1600" dirty="0">
                <a:solidFill>
                  <a:srgbClr val="FFFFFF"/>
                </a:solidFill>
                <a:latin typeface="Calibri" pitchFamily="34" charset="0"/>
                <a:ea typeface="Calibri" pitchFamily="34" charset="-122"/>
                <a:cs typeface="Calibri" pitchFamily="34" charset="-120"/>
              </a:rPr>
              <a:t>On unseen real proteins it ranks propensity-driven helices well (insulin B-chain 0.98 [0.93–1.00]; 8,994 PISCES chains ≈ 0.75) — the honest limit of a sequence-only model.</a:t>
            </a:r>
            <a:endParaRPr lang="en-US" sz="1600" dirty="0"/>
          </a:p>
        </p:txBody>
      </p:sp>
      <p:sp>
        <p:nvSpPr>
          <p:cNvPr id="5" name="Shape 3"/>
          <p:cNvSpPr/>
          <p:nvPr/>
        </p:nvSpPr>
        <p:spPr>
          <a:xfrm>
            <a:off x="731520" y="5074920"/>
            <a:ext cx="2926080" cy="0"/>
          </a:xfrm>
          <a:prstGeom prst="line">
            <a:avLst/>
          </a:prstGeom>
          <a:noFill/>
          <a:ln w="25400">
            <a:solidFill>
              <a:srgbClr val="1D9E75"/>
            </a:solidFill>
            <a:prstDash val="solid"/>
          </a:ln>
        </p:spPr>
      </p:sp>
      <p:sp>
        <p:nvSpPr>
          <p:cNvPr id="6" name="Text 4"/>
          <p:cNvSpPr/>
          <p:nvPr/>
        </p:nvSpPr>
        <p:spPr>
          <a:xfrm>
            <a:off x="731520" y="5257800"/>
            <a:ext cx="10515600" cy="914400"/>
          </a:xfrm>
          <a:prstGeom prst="rect">
            <a:avLst/>
          </a:prstGeom>
          <a:noFill/>
          <a:ln/>
        </p:spPr>
        <p:txBody>
          <a:bodyPr wrap="square" lIns="0" tIns="0" rIns="0" bIns="0" rtlCol="0" anchor="ctr"/>
          <a:lstStyle/>
          <a:p>
            <a:pPr indent="0" marL="0">
              <a:buNone/>
            </a:pPr>
            <a:r>
              <a:rPr lang="en-US" sz="1500" b="1" dirty="0">
                <a:solidFill>
                  <a:srgbClr val="8FE3C6"/>
                </a:solidFill>
                <a:latin typeface="Calibri" pitchFamily="34" charset="0"/>
                <a:ea typeface="Calibri" pitchFamily="34" charset="-122"/>
                <a:cs typeface="Calibri" pitchFamily="34" charset="-120"/>
              </a:rPr>
              <a:t>Group [ number ]  ·  [ Member names ]
</a:t>
            </a:r>
            <a:endParaRPr lang="en-US" sz="1500" dirty="0"/>
          </a:p>
          <a:p>
            <a:pPr indent="0" marL="0">
              <a:buNone/>
            </a:pPr>
            <a:r>
              <a:rPr lang="en-US" sz="1300" dirty="0">
                <a:solidFill>
                  <a:srgbClr val="FFFFFF"/>
                </a:solidFill>
                <a:latin typeface="Calibri" pitchFamily="34" charset="0"/>
                <a:ea typeface="Calibri" pitchFamily="34" charset="-122"/>
                <a:cs typeface="Calibri" pitchFamily="34" charset="-120"/>
              </a:rPr>
              <a:t>[ email ]@tu-dortmund.de   ·   Simulation-Based Inference, TU Dortmund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alpha-helix secondary structure with a two-state HMM and BayesFlow</dc:title>
  <dc:subject>PptxGenJS Presentation</dc:subject>
  <dc:creator>SBI project</dc:creator>
  <cp:lastModifiedBy>SBI project</cp:lastModifiedBy>
  <cp:revision>1</cp:revision>
  <dcterms:created xsi:type="dcterms:W3CDTF">2026-07-18T20:50:49Z</dcterms:created>
  <dcterms:modified xsi:type="dcterms:W3CDTF">2026-07-18T20:50:49Z</dcterms:modified>
</cp:coreProperties>
</file>