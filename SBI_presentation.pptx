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State the goal in one line: predict per-residue alpha-helix probability from an amino-acid sequence, using a fixed two-state HMM and a BayesFlow amortized posterior. Replace the group number and member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Keep this to ~15 seconds — it just sets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topic and the exact prediction target. Emphasize the modeling choice: strict H-only helix definition (cleaner than merging G and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statistical model. Point at the self-loops (0.90 / 0.95) and the cross arrows (0.05 / 0.10). The 0.90 stay-probability is what makes helices come 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state emits amino acids with its own propensities (helix loves A,L,E; breakers G,P favor other). We measured the empirical P(amino acid | DSSP H vs non-H) from real PISCES and overlaid it on the given tables: correlation 0.992 (helix) / 0.982 (other), max deviation 0.9 pp. Transitions match too. So both halves of the model are grounded in data. (The old 'transitions-only' evidence was a mismatch with this slide's title — now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Forward-Backward gives the exact posterior P(helix) for each residue given the whole chain. hmmlearn does this. These become the targets BayesFlow learns to emulate. The 0.79 AUC ceiling comes from overlapping emission tables — even exact inference can't separate helix/other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modeling idea. Explain: normalizing flows need fixed dimensions, sequences vary, so we amortize one residue at a time through a fixed window and slide it. One-hot (not integer) because amino acids are categorical; padding channel marks chain edges. Local view =&gt; stochastic map =&gt; non-degenerate posterior, which is exactly what BayesFlow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table. Stress the disjoint train/val split — a natural exam question is 'how do you know there's no leakage?' Answer: front vs tail blocks, plus a runtime assert that no validation sequence appears in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from an earlier version: 1A7F is a MUTANT insulin (B16E, B24G, des-B30) whose sparse A-chain annotation inflated the A-chain AUC to 0.97. On wild-type 1MSO the A-chain is at chance (0.52). The B-chain (0.98) is genuine. The A-chain failure is scientifically informative: its N-terminal helix is stabilised by disulfide bonds, and cysteine is helix-disfavouring in the emission table, so a propensity HMM predicts non-helix exactly where the helix is. Insulin rests on only 2-4 chains — illustrative, not a robust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Generalization test on the whole culled real dataset. The point: BayesFlow tracks exact FB even far out of distribution, and the honest real-world number is ~0.75 AUC for this deliberately simple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result 1: BayesFlow reproduces the exact posterior almost perfectly. The scatter hugging the diagonal is the money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SBI-specific evidence the course asks for (convergence + calibration + contraction), and it's the most likely place questions land. Own the SBC result: the posterior is a superb point estimate (r=0.999) but its uncertainty is slightly mis-located — a ~0.15-SD bias that only a sensitive test like SBC catches. We diagnosed it: NOT the logit-clip atom at residue 0 (excluding it doesn't fix SBC); the more likely cause is that the 3 target dims are 0.89-0.96 correlated, which coupling flows handle poorly. Showing you found AND interpreted a calibration failure is worth more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method columns are equal everywhere (faithful amortization). The added baseline column is the honest reading: on insulin the model never crosses P=0.5, so accuracy collapses to the baseline. Do NOT claim FB is a ceiling on real data — it isn't, because the HMM is misspecified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TL;DR. Land these four sentences. Be ready for questions on: what amortization buys you, why a normalizing flow, why AUC not accuracy, and the difference between Forward-Backward and Viterbi.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3B2E"/>
        </a:solidFill>
      </p:bgPr>
    </p:bg>
    <p:spTree>
      <p:nvGrpSpPr>
        <p:cNvPr id="1" name=""/>
        <p:cNvGrpSpPr/>
        <p:nvPr/>
      </p:nvGrpSpPr>
      <p:grpSpPr>
        <a:xfrm>
          <a:off x="0" y="0"/>
          <a:ext cx="0" cy="0"/>
          <a:chOff x="0" y="0"/>
          <a:chExt cx="0" cy="0"/>
        </a:xfrm>
      </p:grpSpPr>
      <p:sp>
        <p:nvSpPr>
          <p:cNvPr id="2" name="Text 0"/>
          <p:cNvSpPr/>
          <p:nvPr/>
        </p:nvSpPr>
        <p:spPr>
          <a:xfrm>
            <a:off x="8412480" y="182880"/>
            <a:ext cx="3657600" cy="6400800"/>
          </a:xfrm>
          <a:prstGeom prst="rect">
            <a:avLst/>
          </a:prstGeom>
          <a:noFill/>
          <a:ln/>
        </p:spPr>
        <p:txBody>
          <a:bodyPr wrap="square" lIns="0" tIns="0" rIns="0" bIns="0" rtlCol="0" anchor="ctr"/>
          <a:lstStyle/>
          <a:p>
            <a:pPr algn="ctr" indent="0" marL="0">
              <a:buNone/>
            </a:pPr>
            <a:r>
              <a:rPr lang="en-US" sz="34000" b="1" dirty="0">
                <a:solidFill>
                  <a:srgbClr val="13463A"/>
                </a:solidFill>
                <a:latin typeface="Cambria" pitchFamily="34" charset="0"/>
                <a:ea typeface="Cambria" pitchFamily="34" charset="-122"/>
                <a:cs typeface="Cambria" pitchFamily="34" charset="-120"/>
              </a:rPr>
              <a:t>α</a:t>
            </a:r>
            <a:endParaRPr lang="en-US" sz="34000" dirty="0"/>
          </a:p>
        </p:txBody>
      </p:sp>
      <p:sp>
        <p:nvSpPr>
          <p:cNvPr id="3" name="Text 1"/>
          <p:cNvSpPr/>
          <p:nvPr/>
        </p:nvSpPr>
        <p:spPr>
          <a:xfrm>
            <a:off x="640080" y="1051560"/>
            <a:ext cx="10058400" cy="365760"/>
          </a:xfrm>
          <a:prstGeom prst="rect">
            <a:avLst/>
          </a:prstGeom>
          <a:noFill/>
          <a:ln/>
        </p:spPr>
        <p:txBody>
          <a:bodyPr wrap="square" lIns="0" tIns="0" rIns="0" bIns="0" rtlCol="0" anchor="ctr"/>
          <a:lstStyle/>
          <a:p>
            <a:pPr indent="0" marL="0">
              <a:buNone/>
            </a:pPr>
            <a:r>
              <a:rPr lang="en-US" sz="1400" b="1" spc="300" kern="0" dirty="0">
                <a:solidFill>
                  <a:srgbClr val="8FE3C6"/>
                </a:solidFill>
                <a:latin typeface="Calibri" pitchFamily="34" charset="0"/>
                <a:ea typeface="Calibri" pitchFamily="34" charset="-122"/>
                <a:cs typeface="Calibri" pitchFamily="34" charset="-120"/>
              </a:rPr>
              <a:t>SIMULATION-BASED INFERENCE  ·  TU DORTMUND</a:t>
            </a:r>
            <a:endParaRPr lang="en-US" sz="1400" dirty="0"/>
          </a:p>
        </p:txBody>
      </p:sp>
      <p:sp>
        <p:nvSpPr>
          <p:cNvPr id="4" name="Text 2"/>
          <p:cNvSpPr/>
          <p:nvPr/>
        </p:nvSpPr>
        <p:spPr>
          <a:xfrm>
            <a:off x="640080" y="173736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Predicting α-helix secondary structure</a:t>
            </a:r>
            <a:endParaRPr lang="en-US" sz="4000" dirty="0"/>
          </a:p>
        </p:txBody>
      </p:sp>
      <p:sp>
        <p:nvSpPr>
          <p:cNvPr id="5" name="Text 3"/>
          <p:cNvSpPr/>
          <p:nvPr/>
        </p:nvSpPr>
        <p:spPr>
          <a:xfrm>
            <a:off x="640080" y="2743200"/>
            <a:ext cx="10058400" cy="640080"/>
          </a:xfrm>
          <a:prstGeom prst="rect">
            <a:avLst/>
          </a:prstGeom>
          <a:noFill/>
          <a:ln/>
        </p:spPr>
        <p:txBody>
          <a:bodyPr wrap="square" lIns="0" tIns="0" rIns="0" bIns="0" rtlCol="0" anchor="ctr"/>
          <a:lstStyle/>
          <a:p>
            <a:pPr indent="0" marL="0">
              <a:buNone/>
            </a:pPr>
            <a:r>
              <a:rPr lang="en-US" sz="2200" i="1" dirty="0">
                <a:solidFill>
                  <a:srgbClr val="8FE3C6"/>
                </a:solidFill>
                <a:latin typeface="Cambria" pitchFamily="34" charset="0"/>
                <a:ea typeface="Cambria" pitchFamily="34" charset="-122"/>
                <a:cs typeface="Cambria" pitchFamily="34" charset="-120"/>
              </a:rPr>
              <a:t>A two-state Hidden Markov Model fit with amortized BayesFlow inference</a:t>
            </a:r>
            <a:endParaRPr lang="en-US" sz="2200" dirty="0"/>
          </a:p>
        </p:txBody>
      </p:sp>
      <p:sp>
        <p:nvSpPr>
          <p:cNvPr id="6" name="Shape 4"/>
          <p:cNvSpPr/>
          <p:nvPr/>
        </p:nvSpPr>
        <p:spPr>
          <a:xfrm>
            <a:off x="685800" y="3794760"/>
            <a:ext cx="2926080" cy="0"/>
          </a:xfrm>
          <a:prstGeom prst="line">
            <a:avLst/>
          </a:prstGeom>
          <a:noFill/>
          <a:ln w="25400">
            <a:solidFill>
              <a:srgbClr val="1D9E75"/>
            </a:solidFill>
            <a:prstDash val="solid"/>
          </a:ln>
        </p:spPr>
      </p:sp>
      <p:sp>
        <p:nvSpPr>
          <p:cNvPr id="7" name="Text 5"/>
          <p:cNvSpPr/>
          <p:nvPr/>
        </p:nvSpPr>
        <p:spPr>
          <a:xfrm>
            <a:off x="685800" y="4023360"/>
            <a:ext cx="10058400" cy="1097280"/>
          </a:xfrm>
          <a:prstGeom prst="rect">
            <a:avLst/>
          </a:prstGeom>
          <a:noFill/>
          <a:ln/>
        </p:spPr>
        <p:txBody>
          <a:bodyPr wrap="square" lIns="0" tIns="0" rIns="0" bIns="0" rtlCol="0" anchor="ctr"/>
          <a:lstStyle/>
          <a:p>
            <a:pPr indent="0" marL="0">
              <a:spcAft>
                <a:spcPts val="600"/>
              </a:spcAft>
              <a:buNone/>
            </a:pPr>
            <a:r>
              <a:rPr lang="en-US" sz="1800" b="1" dirty="0">
                <a:solidFill>
                  <a:srgbClr val="FFFFFF"/>
                </a:solidFill>
                <a:latin typeface="Calibri" pitchFamily="34" charset="0"/>
                <a:ea typeface="Calibri" pitchFamily="34" charset="-122"/>
                <a:cs typeface="Calibri" pitchFamily="34" charset="-120"/>
              </a:rPr>
              <a:t>Group [ number ]</a:t>
            </a:r>
            <a:endParaRPr lang="en-US" sz="1800" dirty="0"/>
          </a:p>
          <a:p>
            <a:pPr indent="0" marL="0">
              <a:buNone/>
            </a:pPr>
            <a:r>
              <a:rPr lang="en-US" sz="1500" dirty="0">
                <a:solidFill>
                  <a:srgbClr val="8FE3C6"/>
                </a:solidFill>
                <a:latin typeface="Calibri" pitchFamily="34" charset="0"/>
                <a:ea typeface="Calibri" pitchFamily="34" charset="-122"/>
                <a:cs typeface="Calibri" pitchFamily="34" charset="-120"/>
              </a:rPr>
              <a:t>[ Member 1 ]   ·   [ Member 2 ]   ·   [ Member 3 ]</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02920"/>
            <a:ext cx="7315200" cy="731520"/>
          </a:xfrm>
          <a:prstGeom prst="rect">
            <a:avLst/>
          </a:prstGeom>
          <a:noFill/>
          <a:ln/>
        </p:spPr>
        <p:txBody>
          <a:bodyPr wrap="square" lIns="0" tIns="0" rIns="0" bIns="0" rtlCol="0" anchor="ctr"/>
          <a:lstStyle/>
          <a:p>
            <a:pPr indent="0" marL="0">
              <a:buNone/>
            </a:pPr>
            <a:r>
              <a:rPr lang="en-US" sz="3000" b="1" dirty="0">
                <a:solidFill>
                  <a:srgbClr val="0F6E56"/>
                </a:solidFill>
                <a:latin typeface="Cambria" pitchFamily="34" charset="0"/>
                <a:ea typeface="Cambria" pitchFamily="34" charset="-122"/>
                <a:cs typeface="Cambria" pitchFamily="34" charset="-120"/>
              </a:rPr>
              <a:t>Roadmap</a:t>
            </a:r>
            <a:endParaRPr lang="en-US" sz="3000" dirty="0"/>
          </a:p>
        </p:txBody>
      </p:sp>
      <p:sp>
        <p:nvSpPr>
          <p:cNvPr id="3" name="Shape 1"/>
          <p:cNvSpPr/>
          <p:nvPr/>
        </p:nvSpPr>
        <p:spPr>
          <a:xfrm>
            <a:off x="822960" y="1554480"/>
            <a:ext cx="566928" cy="566928"/>
          </a:xfrm>
          <a:prstGeom prst="ellipse">
            <a:avLst/>
          </a:prstGeom>
          <a:solidFill>
            <a:srgbClr val="1D9E75"/>
          </a:solidFill>
          <a:ln/>
        </p:spPr>
      </p:sp>
      <p:sp>
        <p:nvSpPr>
          <p:cNvPr id="4" name="Text 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p:nvPr/>
        </p:nvSpPr>
        <p:spPr>
          <a:xfrm>
            <a:off x="1645920" y="1554480"/>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The question   </a:t>
            </a:r>
            <a:pPr indent="0" marL="0">
              <a:buNone/>
            </a:pPr>
            <a:r>
              <a:rPr lang="en-US" sz="1400" dirty="0">
                <a:solidFill>
                  <a:srgbClr val="5B6B66"/>
                </a:solidFill>
                <a:latin typeface="Calibri" pitchFamily="34" charset="0"/>
                <a:ea typeface="Calibri" pitchFamily="34" charset="-122"/>
                <a:cs typeface="Calibri" pitchFamily="34" charset="-120"/>
              </a:rPr>
              <a:t>Predict α-helix vs other from sequence</a:t>
            </a:r>
            <a:endParaRPr lang="en-US" sz="1900" dirty="0"/>
          </a:p>
        </p:txBody>
      </p:sp>
      <p:sp>
        <p:nvSpPr>
          <p:cNvPr id="6" name="Shape 4"/>
          <p:cNvSpPr/>
          <p:nvPr/>
        </p:nvSpPr>
        <p:spPr>
          <a:xfrm>
            <a:off x="822960" y="2487168"/>
            <a:ext cx="566928" cy="566928"/>
          </a:xfrm>
          <a:prstGeom prst="ellipse">
            <a:avLst/>
          </a:prstGeom>
          <a:solidFill>
            <a:srgbClr val="1D9E75"/>
          </a:solidFill>
          <a:ln/>
        </p:spPr>
      </p:sp>
      <p:sp>
        <p:nvSpPr>
          <p:cNvPr id="7" name="Text 5"/>
          <p:cNvSpPr/>
          <p:nvPr/>
        </p:nvSpPr>
        <p:spPr>
          <a:xfrm>
            <a:off x="822960" y="248716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p:nvPr/>
        </p:nvSpPr>
        <p:spPr>
          <a:xfrm>
            <a:off x="1645920" y="2487168"/>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Forward–Backward   </a:t>
            </a:r>
            <a:pPr indent="0" marL="0">
              <a:buNone/>
            </a:pPr>
            <a:r>
              <a:rPr lang="en-US" sz="1400" dirty="0">
                <a:solidFill>
                  <a:srgbClr val="5B6B66"/>
                </a:solidFill>
                <a:latin typeface="Calibri" pitchFamily="34" charset="0"/>
                <a:ea typeface="Calibri" pitchFamily="34" charset="-122"/>
                <a:cs typeface="Calibri" pitchFamily="34" charset="-120"/>
              </a:rPr>
              <a:t>Exact per-residue posterior as training targets</a:t>
            </a:r>
            <a:endParaRPr lang="en-US" sz="1900" dirty="0"/>
          </a:p>
        </p:txBody>
      </p:sp>
      <p:sp>
        <p:nvSpPr>
          <p:cNvPr id="9" name="Shape 7"/>
          <p:cNvSpPr/>
          <p:nvPr/>
        </p:nvSpPr>
        <p:spPr>
          <a:xfrm>
            <a:off x="822960" y="3419856"/>
            <a:ext cx="566928" cy="566928"/>
          </a:xfrm>
          <a:prstGeom prst="ellipse">
            <a:avLst/>
          </a:prstGeom>
          <a:solidFill>
            <a:srgbClr val="1D9E75"/>
          </a:solidFill>
          <a:ln/>
        </p:spPr>
      </p:sp>
      <p:sp>
        <p:nvSpPr>
          <p:cNvPr id="10" name="Text 8"/>
          <p:cNvSpPr/>
          <p:nvPr/>
        </p:nvSpPr>
        <p:spPr>
          <a:xfrm>
            <a:off x="822960" y="341985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p:nvPr/>
        </p:nvSpPr>
        <p:spPr>
          <a:xfrm>
            <a:off x="1645920" y="3419856"/>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BayesFlow   </a:t>
            </a:r>
            <a:pPr indent="0" marL="0">
              <a:buNone/>
            </a:pPr>
            <a:r>
              <a:rPr lang="en-US" sz="1400" dirty="0">
                <a:solidFill>
                  <a:srgbClr val="5B6B66"/>
                </a:solidFill>
                <a:latin typeface="Calibri" pitchFamily="34" charset="0"/>
                <a:ea typeface="Calibri" pitchFamily="34" charset="-122"/>
                <a:cs typeface="Calibri" pitchFamily="34" charset="-120"/>
              </a:rPr>
              <a:t>Amortized neural posterior via a sliding window</a:t>
            </a:r>
            <a:endParaRPr lang="en-US" sz="1900" dirty="0"/>
          </a:p>
        </p:txBody>
      </p:sp>
      <p:sp>
        <p:nvSpPr>
          <p:cNvPr id="12" name="Shape 10"/>
          <p:cNvSpPr/>
          <p:nvPr/>
        </p:nvSpPr>
        <p:spPr>
          <a:xfrm>
            <a:off x="822960" y="4352544"/>
            <a:ext cx="566928" cy="566928"/>
          </a:xfrm>
          <a:prstGeom prst="ellipse">
            <a:avLst/>
          </a:prstGeom>
          <a:solidFill>
            <a:srgbClr val="1D9E75"/>
          </a:solidFill>
          <a:ln/>
        </p:spPr>
      </p:sp>
      <p:sp>
        <p:nvSpPr>
          <p:cNvPr id="13" name="Text 11"/>
          <p:cNvSpPr/>
          <p:nvPr/>
        </p:nvSpPr>
        <p:spPr>
          <a:xfrm>
            <a:off x="822960" y="43525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4" name="Text 12"/>
          <p:cNvSpPr/>
          <p:nvPr/>
        </p:nvSpPr>
        <p:spPr>
          <a:xfrm>
            <a:off x="1645920" y="4352544"/>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Insulin &amp; real evaluation   </a:t>
            </a:r>
            <a:pPr indent="0" marL="0">
              <a:buNone/>
            </a:pPr>
            <a:r>
              <a:rPr lang="en-US" sz="1400" dirty="0">
                <a:solidFill>
                  <a:srgbClr val="5B6B66"/>
                </a:solidFill>
                <a:latin typeface="Calibri" pitchFamily="34" charset="0"/>
                <a:ea typeface="Calibri" pitchFamily="34" charset="-122"/>
                <a:cs typeface="Calibri" pitchFamily="34" charset="-120"/>
              </a:rPr>
              <a:t>Held-out real proteins vs ground truth</a:t>
            </a:r>
            <a:endParaRPr lang="en-US" sz="1900" dirty="0"/>
          </a:p>
        </p:txBody>
      </p:sp>
      <p:sp>
        <p:nvSpPr>
          <p:cNvPr id="15" name="Shape 13"/>
          <p:cNvSpPr/>
          <p:nvPr/>
        </p:nvSpPr>
        <p:spPr>
          <a:xfrm>
            <a:off x="822960" y="5285232"/>
            <a:ext cx="566928" cy="566928"/>
          </a:xfrm>
          <a:prstGeom prst="ellipse">
            <a:avLst/>
          </a:prstGeom>
          <a:solidFill>
            <a:srgbClr val="1D9E75"/>
          </a:solidFill>
          <a:ln/>
        </p:spPr>
      </p:sp>
      <p:sp>
        <p:nvSpPr>
          <p:cNvPr id="16" name="Text 14"/>
          <p:cNvSpPr/>
          <p:nvPr/>
        </p:nvSpPr>
        <p:spPr>
          <a:xfrm>
            <a:off x="822960" y="5285232"/>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17" name="Text 15"/>
          <p:cNvSpPr/>
          <p:nvPr/>
        </p:nvSpPr>
        <p:spPr>
          <a:xfrm>
            <a:off x="1645920" y="5285232"/>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Comparison &amp; results   </a:t>
            </a:r>
            <a:pPr indent="0" marL="0">
              <a:buNone/>
            </a:pPr>
            <a:r>
              <a:rPr lang="en-US" sz="1400" dirty="0">
                <a:solidFill>
                  <a:srgbClr val="5B6B66"/>
                </a:solidFill>
                <a:latin typeface="Calibri" pitchFamily="34" charset="0"/>
                <a:ea typeface="Calibri" pitchFamily="34" charset="-122"/>
                <a:cs typeface="Calibri" pitchFamily="34" charset="-120"/>
              </a:rPr>
              <a:t>BayesFlow vs exact Forward–Backward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From amino-acid sequence to α-helix</a:t>
            </a:r>
            <a:endParaRPr lang="en-US" sz="2700" dirty="0"/>
          </a:p>
        </p:txBody>
      </p:sp>
      <p:sp>
        <p:nvSpPr>
          <p:cNvPr id="6" name="Text 4"/>
          <p:cNvSpPr/>
          <p:nvPr/>
        </p:nvSpPr>
        <p:spPr>
          <a:xfrm>
            <a:off x="502920" y="1828800"/>
            <a:ext cx="6126480" cy="3840480"/>
          </a:xfrm>
          <a:prstGeom prst="rect">
            <a:avLst/>
          </a:prstGeom>
          <a:noFill/>
          <a:ln/>
        </p:spPr>
        <p:txBody>
          <a:bodyPr wrap="square" rtlCol="0" anchor="t"/>
          <a:lstStyle/>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Proteins fold; the local shape is the secondary structure (helix / sheet / coil).</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We predict one thing: is each residue an α-helix, or 'other'?</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Solving 3-D structure needs X-ray / NMR — expensive; we want it from sequence.</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Our statistical model: a two-state Hidden Markov Model.</a:t>
            </a:r>
            <a:endParaRPr lang="en-US" sz="1500" dirty="0"/>
          </a:p>
        </p:txBody>
      </p:sp>
      <p:sp>
        <p:nvSpPr>
          <p:cNvPr id="7" name="Shape 5"/>
          <p:cNvSpPr/>
          <p:nvPr/>
        </p:nvSpPr>
        <p:spPr>
          <a:xfrm>
            <a:off x="7040880" y="1965960"/>
            <a:ext cx="4572000" cy="868680"/>
          </a:xfrm>
          <a:prstGeom prst="roundRect">
            <a:avLst>
              <a:gd name="adj" fmla="val 12632"/>
            </a:avLst>
          </a:prstGeom>
          <a:solidFill>
            <a:srgbClr val="1D9E75"/>
          </a:solidFill>
          <a:ln/>
        </p:spPr>
      </p:sp>
      <p:sp>
        <p:nvSpPr>
          <p:cNvPr id="8" name="Text 6"/>
          <p:cNvSpPr/>
          <p:nvPr/>
        </p:nvSpPr>
        <p:spPr>
          <a:xfrm>
            <a:off x="7040880" y="1965960"/>
            <a:ext cx="45720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α-helix  =  state “H”</a:t>
            </a:r>
            <a:endParaRPr lang="en-US" sz="2000" dirty="0"/>
          </a:p>
        </p:txBody>
      </p:sp>
      <p:sp>
        <p:nvSpPr>
          <p:cNvPr id="9" name="Shape 7"/>
          <p:cNvSpPr/>
          <p:nvPr/>
        </p:nvSpPr>
        <p:spPr>
          <a:xfrm>
            <a:off x="7040880" y="3017520"/>
            <a:ext cx="4572000" cy="868680"/>
          </a:xfrm>
          <a:prstGeom prst="roundRect">
            <a:avLst>
              <a:gd name="adj" fmla="val 12632"/>
            </a:avLst>
          </a:prstGeom>
          <a:solidFill>
            <a:srgbClr val="D3D1C7"/>
          </a:solidFill>
          <a:ln/>
        </p:spPr>
      </p:sp>
      <p:sp>
        <p:nvSpPr>
          <p:cNvPr id="10" name="Text 8"/>
          <p:cNvSpPr/>
          <p:nvPr/>
        </p:nvSpPr>
        <p:spPr>
          <a:xfrm>
            <a:off x="7040880" y="3017520"/>
            <a:ext cx="4572000" cy="868680"/>
          </a:xfrm>
          <a:prstGeom prst="rect">
            <a:avLst/>
          </a:prstGeom>
          <a:noFill/>
          <a:ln/>
        </p:spPr>
        <p:txBody>
          <a:bodyPr wrap="square" lIns="0" tIns="0" rIns="0" bIns="0" rtlCol="0" anchor="ctr"/>
          <a:lstStyle/>
          <a:p>
            <a:pPr algn="ctr" indent="0" marL="0">
              <a:buNone/>
            </a:pPr>
            <a:r>
              <a:rPr lang="en-US" sz="1800" b="1" dirty="0">
                <a:solidFill>
                  <a:srgbClr val="2B2A26"/>
                </a:solidFill>
                <a:latin typeface="Cambria" pitchFamily="34" charset="0"/>
                <a:ea typeface="Cambria" pitchFamily="34" charset="-122"/>
                <a:cs typeface="Cambria" pitchFamily="34" charset="-120"/>
              </a:rPr>
              <a:t>“other”  =  E B G I T S C</a:t>
            </a:r>
            <a:endParaRPr lang="en-US" sz="1800" dirty="0"/>
          </a:p>
        </p:txBody>
      </p:sp>
      <p:sp>
        <p:nvSpPr>
          <p:cNvPr id="11" name="Shape 9"/>
          <p:cNvSpPr/>
          <p:nvPr/>
        </p:nvSpPr>
        <p:spPr>
          <a:xfrm>
            <a:off x="7040880" y="4114800"/>
            <a:ext cx="4572000" cy="1280160"/>
          </a:xfrm>
          <a:prstGeom prst="roundRect">
            <a:avLst>
              <a:gd name="adj" fmla="val 7143"/>
            </a:avLst>
          </a:prstGeom>
          <a:solidFill>
            <a:srgbClr val="EAF5F0"/>
          </a:solidFill>
          <a:ln/>
        </p:spPr>
      </p:sp>
      <p:sp>
        <p:nvSpPr>
          <p:cNvPr id="12" name="Text 10"/>
          <p:cNvSpPr/>
          <p:nvPr/>
        </p:nvSpPr>
        <p:spPr>
          <a:xfrm>
            <a:off x="7269480" y="4206240"/>
            <a:ext cx="4114800" cy="1097280"/>
          </a:xfrm>
          <a:prstGeom prst="rect">
            <a:avLst/>
          </a:prstGeom>
          <a:noFill/>
          <a:ln/>
        </p:spPr>
        <p:txBody>
          <a:bodyPr wrap="square" lIns="0" tIns="0" rIns="0" bIns="0" rtlCol="0" anchor="ctr"/>
          <a:lstStyle/>
          <a:p>
            <a:pPr indent="0" marL="0">
              <a:buNone/>
            </a:pPr>
            <a:r>
              <a:rPr lang="en-US" sz="1300" b="1" dirty="0">
                <a:solidFill>
                  <a:srgbClr val="0F6E56"/>
                </a:solidFill>
                <a:latin typeface="Calibri" pitchFamily="34" charset="0"/>
                <a:ea typeface="Calibri" pitchFamily="34" charset="-122"/>
                <a:cs typeface="Calibri" pitchFamily="34" charset="-120"/>
              </a:rPr>
              <a:t>Mapping decision
</a:t>
            </a:r>
            <a:endParaRPr lang="en-US" sz="1300" dirty="0"/>
          </a:p>
          <a:p>
            <a:pPr indent="0" marL="0">
              <a:buNone/>
            </a:pPr>
            <a:r>
              <a:rPr lang="en-US" sz="1250" dirty="0">
                <a:solidFill>
                  <a:srgbClr val="1A2E29"/>
                </a:solidFill>
                <a:latin typeface="Calibri" pitchFamily="34" charset="0"/>
                <a:ea typeface="Calibri" pitchFamily="34" charset="-122"/>
                <a:cs typeface="Calibri" pitchFamily="34" charset="-120"/>
              </a:rPr>
              <a:t>DSSP labels each residue with 8 states. We keep only H as helix (strict α-helix); the other 7 → other.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The generative model: a two-state HMM</a:t>
            </a:r>
            <a:endParaRPr lang="en-US" sz="2700" dirty="0"/>
          </a:p>
        </p:txBody>
      </p:sp>
      <p:pic>
        <p:nvPicPr>
          <p:cNvPr id="6" name="Image 0" descr="D:/SBI/hmm_explainer/1_two_state_hmm.png">    </p:cNvPr>
          <p:cNvPicPr>
            <a:picLocks noChangeAspect="1"/>
          </p:cNvPicPr>
          <p:nvPr/>
        </p:nvPicPr>
        <p:blipFill>
          <a:blip r:embed="rId1"/>
          <a:stretch>
            <a:fillRect/>
          </a:stretch>
        </p:blipFill>
        <p:spPr>
          <a:xfrm>
            <a:off x="5349240" y="1783080"/>
            <a:ext cx="6217920" cy="3657600"/>
          </a:xfrm>
          <a:prstGeom prst="rect">
            <a:avLst/>
          </a:prstGeom>
        </p:spPr>
      </p:pic>
      <p:sp>
        <p:nvSpPr>
          <p:cNvPr id="7" name="Text 4"/>
          <p:cNvSpPr/>
          <p:nvPr/>
        </p:nvSpPr>
        <p:spPr>
          <a:xfrm>
            <a:off x="5349240" y="5486400"/>
            <a:ext cx="621792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1. Two-state HMM: start rule and transition probabilities.</a:t>
            </a:r>
            <a:endParaRPr lang="en-US" sz="1100" dirty="0"/>
          </a:p>
        </p:txBody>
      </p:sp>
      <p:sp>
        <p:nvSpPr>
          <p:cNvPr id="8" name="Text 5"/>
          <p:cNvSpPr/>
          <p:nvPr/>
        </p:nvSpPr>
        <p:spPr>
          <a:xfrm>
            <a:off x="502920" y="1874520"/>
            <a:ext cx="4572000" cy="3840480"/>
          </a:xfrm>
          <a:prstGeom prst="rect">
            <a:avLst/>
          </a:prstGeom>
          <a:noFill/>
          <a:ln/>
        </p:spPr>
        <p:txBody>
          <a:bodyPr wrap="square" rtlCol="0" anchor="t"/>
          <a:lstStyle/>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The chain always starts in “other”.</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Transitions: helix→helix 0.90, other→helix 0.05.</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So helices form ~10-residue runs, and are started rarely.</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Realistic: real data gives 0.912 and 0.041 (see next slide).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Emissions — and are they realistic?</a:t>
            </a:r>
            <a:endParaRPr lang="en-US" sz="2700" dirty="0"/>
          </a:p>
        </p:txBody>
      </p:sp>
      <p:pic>
        <p:nvPicPr>
          <p:cNvPr id="6" name="Image 0" descr="D:/SBI/hmm_explainer/2_emission_probabilities.png">    </p:cNvPr>
          <p:cNvPicPr>
            <a:picLocks noChangeAspect="1"/>
          </p:cNvPicPr>
          <p:nvPr/>
        </p:nvPicPr>
        <p:blipFill>
          <a:blip r:embed="rId1"/>
          <a:stretch>
            <a:fillRect/>
          </a:stretch>
        </p:blipFill>
        <p:spPr>
          <a:xfrm>
            <a:off x="2697480" y="1691640"/>
            <a:ext cx="6812280" cy="3163824"/>
          </a:xfrm>
          <a:prstGeom prst="rect">
            <a:avLst/>
          </a:prstGeom>
        </p:spPr>
      </p:pic>
      <p:sp>
        <p:nvSpPr>
          <p:cNvPr id="7" name="Text 4"/>
          <p:cNvSpPr/>
          <p:nvPr/>
        </p:nvSpPr>
        <p:spPr>
          <a:xfrm>
            <a:off x="2697480" y="4892040"/>
            <a:ext cx="6812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2. Per-state amino-acid emission probabilities (α-helix vs other).</a:t>
            </a:r>
            <a:endParaRPr lang="en-US" sz="1100" dirty="0"/>
          </a:p>
        </p:txBody>
      </p:sp>
      <p:sp>
        <p:nvSpPr>
          <p:cNvPr id="8" name="Shape 5"/>
          <p:cNvSpPr/>
          <p:nvPr/>
        </p:nvSpPr>
        <p:spPr>
          <a:xfrm>
            <a:off x="502920" y="5394960"/>
            <a:ext cx="11155680" cy="1051560"/>
          </a:xfrm>
          <a:prstGeom prst="roundRect">
            <a:avLst>
              <a:gd name="adj" fmla="val 8696"/>
            </a:avLst>
          </a:prstGeom>
          <a:solidFill>
            <a:srgbClr val="EAF5F0"/>
          </a:solidFill>
          <a:ln/>
        </p:spPr>
      </p:sp>
      <p:sp>
        <p:nvSpPr>
          <p:cNvPr id="9" name="Text 6"/>
          <p:cNvSpPr/>
          <p:nvPr/>
        </p:nvSpPr>
        <p:spPr>
          <a:xfrm>
            <a:off x="777240" y="5394960"/>
            <a:ext cx="10607040" cy="1051560"/>
          </a:xfrm>
          <a:prstGeom prst="rect">
            <a:avLst/>
          </a:prstGeom>
          <a:noFill/>
          <a:ln/>
        </p:spPr>
        <p:txBody>
          <a:bodyPr wrap="square" lIns="0" tIns="0" rIns="0" bIns="0" rtlCol="0" anchor="ctr"/>
          <a:lstStyle/>
          <a:p>
            <a:pPr indent="0" marL="0">
              <a:buNone/>
            </a:pPr>
            <a:r>
              <a:rPr lang="en-US" sz="1350" b="1" dirty="0">
                <a:solidFill>
                  <a:srgbClr val="0F6E56"/>
                </a:solidFill>
                <a:latin typeface="Calibri" pitchFamily="34" charset="0"/>
                <a:ea typeface="Calibri" pitchFamily="34" charset="-122"/>
                <a:cs typeface="Calibri" pitchFamily="34" charset="-120"/>
              </a:rPr>
              <a:t>Yes — checked against real PISCES data:   </a:t>
            </a:r>
            <a:pPr indent="0" marL="0">
              <a:buNone/>
            </a:pPr>
            <a:r>
              <a:rPr lang="en-US" sz="1300" dirty="0">
                <a:solidFill>
                  <a:srgbClr val="1A2E29"/>
                </a:solidFill>
                <a:latin typeface="Calibri" pitchFamily="34" charset="0"/>
                <a:ea typeface="Calibri" pitchFamily="34" charset="-122"/>
                <a:cs typeface="Calibri" pitchFamily="34" charset="-120"/>
              </a:rPr>
              <a:t>emissions match at r = 0.99 (max 0.9 pp off); transitions match too (P(h→h) 0.912 vs 0.90). Both tables are empirically well-founded.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FORWARD–BACKWARD</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Notebooks 1–2: simulate, then get exact targets</a:t>
            </a:r>
            <a:endParaRPr lang="en-US" sz="2700" dirty="0"/>
          </a:p>
        </p:txBody>
      </p:sp>
      <p:pic>
        <p:nvPicPr>
          <p:cNvPr id="6" name="Image 0" descr="D:/SBI/hmm_explainer/3_bayesflow_pipeline.png">    </p:cNvPr>
          <p:cNvPicPr>
            <a:picLocks noChangeAspect="1"/>
          </p:cNvPicPr>
          <p:nvPr/>
        </p:nvPicPr>
        <p:blipFill>
          <a:blip r:embed="rId1"/>
          <a:stretch>
            <a:fillRect/>
          </a:stretch>
        </p:blipFill>
        <p:spPr>
          <a:xfrm>
            <a:off x="5806440" y="1691640"/>
            <a:ext cx="5715000" cy="3657600"/>
          </a:xfrm>
          <a:prstGeom prst="rect">
            <a:avLst/>
          </a:prstGeom>
        </p:spPr>
      </p:pic>
      <p:sp>
        <p:nvSpPr>
          <p:cNvPr id="7" name="Text 4"/>
          <p:cNvSpPr/>
          <p:nvPr/>
        </p:nvSpPr>
        <p:spPr>
          <a:xfrm>
            <a:off x="5806440" y="5394960"/>
            <a:ext cx="571500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3. Full pipeline: simulator → Forward–Backward → BayesFlow → evaluation.</a:t>
            </a:r>
            <a:endParaRPr lang="en-US" sz="1100" dirty="0"/>
          </a:p>
        </p:txBody>
      </p:sp>
      <p:sp>
        <p:nvSpPr>
          <p:cNvPr id="8" name="Text 5"/>
          <p:cNvSpPr/>
          <p:nvPr/>
        </p:nvSpPr>
        <p:spPr>
          <a:xfrm>
            <a:off x="502920" y="1828800"/>
            <a:ext cx="5120640" cy="3931920"/>
          </a:xfrm>
          <a:prstGeom prst="rect">
            <a:avLst/>
          </a:prstGeom>
          <a:noFill/>
          <a:ln/>
        </p:spPr>
        <p:txBody>
          <a:bodyPr wrap="square" rtlCol="0" anchor="t"/>
          <a:lstStyle/>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Simulate 100,000 chains; lengths sampled from real PISCES (median 208).</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Run Forward–Backward (hmmlearn) → exact P(helix) per residue = training targets.</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24.3M residues — the exact Bayesian “answer key”.</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Checks: mean P 0.324; residue-0 = 0; recovers hidden states at the Bayes ceiling (AUC 0.79).</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BAYESFLOW</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Turning a variable-length chain into a fixed input</a:t>
            </a:r>
            <a:endParaRPr lang="en-US" sz="2700" dirty="0"/>
          </a:p>
        </p:txBody>
      </p:sp>
      <p:pic>
        <p:nvPicPr>
          <p:cNvPr id="6" name="Image 0" descr="D:/SBI/restart/bayesflow_window_schematic.png">    </p:cNvPr>
          <p:cNvPicPr>
            <a:picLocks noChangeAspect="1"/>
          </p:cNvPicPr>
          <p:nvPr/>
        </p:nvPicPr>
        <p:blipFill>
          <a:blip r:embed="rId1"/>
          <a:stretch>
            <a:fillRect/>
          </a:stretch>
        </p:blipFill>
        <p:spPr>
          <a:xfrm>
            <a:off x="1691640" y="1645920"/>
            <a:ext cx="8778240" cy="3474720"/>
          </a:xfrm>
          <a:prstGeom prst="rect">
            <a:avLst/>
          </a:prstGeom>
        </p:spPr>
      </p:pic>
      <p:sp>
        <p:nvSpPr>
          <p:cNvPr id="7" name="Text 4"/>
          <p:cNvSpPr/>
          <p:nvPr/>
        </p:nvSpPr>
        <p:spPr>
          <a:xfrm>
            <a:off x="1691640" y="5120640"/>
            <a:ext cx="87782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4. Sliding 31-residue window → one-hot encoding → CouplingFlow posterior.</a:t>
            </a:r>
            <a:endParaRPr lang="en-US" sz="1100" dirty="0"/>
          </a:p>
        </p:txBody>
      </p:sp>
      <p:sp>
        <p:nvSpPr>
          <p:cNvPr id="8" name="Text 5"/>
          <p:cNvSpPr/>
          <p:nvPr/>
        </p:nvSpPr>
        <p:spPr>
          <a:xfrm>
            <a:off x="502920" y="5486400"/>
            <a:ext cx="11155680" cy="1280160"/>
          </a:xfrm>
          <a:prstGeom prst="rect">
            <a:avLst/>
          </a:prstGeom>
          <a:noFill/>
          <a:ln/>
        </p:spPr>
        <p:txBody>
          <a:bodyPr wrap="square" rtlCol="0" anchor="t"/>
          <a:lstStyle/>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A flow needs a fixed-size target → predict one residue from a fixed 31-residue window (±15), slid along the chain.</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Encode the window as one-hot: 31 × 21 channels = 20 amino acids + 1 padding (for chain ends).</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The window is only local → the answer stays uncertain → a genuine posterior (mean ± std), not a point estimate.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BAYESFLOW</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How we trained it</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6858000" cy="914400"/>
        </p:xfrm>
        <a:graphic>
          <a:graphicData uri="http://schemas.openxmlformats.org/drawingml/2006/table">
            <a:tbl>
              <a:tblPr/>
              <a:tblGrid>
                <a:gridCol w="2286000"/>
                <a:gridCol w="45720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Component</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0F6E5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Choice  ·  why</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0F6E56"/>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Inference network</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CouplingFlow, depth 6, 256×256 subnets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Target θ (3-D)</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logit P(helix) at [prev, centre, next]</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Conditions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flattened 31×21 = 651 one-hot window</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Training data</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300,000 windows from 15,000 chains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Optimizer / epochs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Adam · 30 epochs · batch 512</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bl>
          </a:graphicData>
        </a:graphic>
      </p:graphicFrame>
      <p:sp>
        <p:nvSpPr>
          <p:cNvPr id="7" name="Shape 4"/>
          <p:cNvSpPr/>
          <p:nvPr/>
        </p:nvSpPr>
        <p:spPr>
          <a:xfrm>
            <a:off x="7680960" y="1874520"/>
            <a:ext cx="3977640" cy="1600200"/>
          </a:xfrm>
          <a:prstGeom prst="roundRect">
            <a:avLst>
              <a:gd name="adj" fmla="val 5714"/>
            </a:avLst>
          </a:prstGeom>
          <a:solidFill>
            <a:srgbClr val="EAF5F0"/>
          </a:solidFill>
          <a:ln/>
        </p:spPr>
      </p:sp>
      <p:sp>
        <p:nvSpPr>
          <p:cNvPr id="8" name="Text 5"/>
          <p:cNvSpPr/>
          <p:nvPr/>
        </p:nvSpPr>
        <p:spPr>
          <a:xfrm>
            <a:off x="7909560" y="2011680"/>
            <a:ext cx="3566160" cy="1371600"/>
          </a:xfrm>
          <a:prstGeom prst="rect">
            <a:avLst/>
          </a:prstGeom>
          <a:noFill/>
          <a:ln/>
        </p:spPr>
        <p:txBody>
          <a:bodyPr wrap="square" lIns="0" tIns="0" rIns="0" bIns="0" rtlCol="0" anchor="t"/>
          <a:lstStyle/>
          <a:p>
            <a:pPr indent="0" marL="0">
              <a:buNone/>
            </a:pPr>
            <a:r>
              <a:rPr lang="en-US" sz="1400" b="1" dirty="0">
                <a:solidFill>
                  <a:srgbClr val="0F6E56"/>
                </a:solidFill>
                <a:latin typeface="Calibri" pitchFamily="34" charset="0"/>
                <a:ea typeface="Calibri" pitchFamily="34" charset="-122"/>
                <a:cs typeface="Calibri" pitchFamily="34" charset="-120"/>
              </a:rPr>
              <a:t>No leakage (verified)
</a:t>
            </a:r>
            <a:endParaRPr lang="en-US" sz="1400" dirty="0"/>
          </a:p>
          <a:p>
            <a:pPr indent="0" marL="0">
              <a:buNone/>
            </a:pPr>
            <a:r>
              <a:rPr lang="en-US" sz="1200" dirty="0">
                <a:solidFill>
                  <a:srgbClr val="1A2E29"/>
                </a:solidFill>
                <a:latin typeface="Calibri" pitchFamily="34" charset="0"/>
                <a:ea typeface="Calibri" pitchFamily="34" charset="-122"/>
                <a:cs typeface="Calibri" pitchFamily="34" charset="-120"/>
              </a:rPr>
              <a:t>Train = front block [0, 15000); validation = tail block [99500, 100000). Disjoint indices AND 0 shared sequences — asserted at runtime.</a:t>
            </a:r>
            <a:endParaRPr lang="en-US" sz="1400" dirty="0"/>
          </a:p>
        </p:txBody>
      </p:sp>
      <p:sp>
        <p:nvSpPr>
          <p:cNvPr id="9" name="Shape 6"/>
          <p:cNvSpPr/>
          <p:nvPr/>
        </p:nvSpPr>
        <p:spPr>
          <a:xfrm>
            <a:off x="7680960" y="3657600"/>
            <a:ext cx="3977640" cy="1508760"/>
          </a:xfrm>
          <a:prstGeom prst="roundRect">
            <a:avLst>
              <a:gd name="adj" fmla="val 6061"/>
            </a:avLst>
          </a:prstGeom>
          <a:solidFill>
            <a:srgbClr val="0F6E56"/>
          </a:solidFill>
          <a:ln/>
        </p:spPr>
      </p:sp>
      <p:sp>
        <p:nvSpPr>
          <p:cNvPr id="10" name="Text 7"/>
          <p:cNvSpPr/>
          <p:nvPr/>
        </p:nvSpPr>
        <p:spPr>
          <a:xfrm>
            <a:off x="7909560" y="3794760"/>
            <a:ext cx="3566160" cy="1280160"/>
          </a:xfrm>
          <a:prstGeom prst="rect">
            <a:avLst/>
          </a:prstGeom>
          <a:noFill/>
          <a:ln/>
        </p:spPr>
        <p:txBody>
          <a:bodyPr wrap="square" lIns="0" tIns="0" rIns="0" bIns="0" rtlCol="0" anchor="t"/>
          <a:lstStyle/>
          <a:p>
            <a:pPr indent="0" marL="0">
              <a:buNone/>
            </a:pPr>
            <a:r>
              <a:rPr lang="en-US" sz="1400" b="1" dirty="0">
                <a:solidFill>
                  <a:srgbClr val="8FE3C6"/>
                </a:solidFill>
                <a:latin typeface="Calibri" pitchFamily="34" charset="0"/>
                <a:ea typeface="Calibri" pitchFamily="34" charset="-122"/>
                <a:cs typeface="Calibri" pitchFamily="34" charset="-120"/>
              </a:rPr>
              <a:t>Why a window?
</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One trained model does inference for a chain of ANY length — just slide the window. Amortized: no re-fitting per protein.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INSULIN &amp; REAL EVALUATION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Held-out real protein: wild-type insulin (1MSO)</a:t>
            </a:r>
            <a:endParaRPr lang="en-US" sz="2700" dirty="0"/>
          </a:p>
        </p:txBody>
      </p:sp>
      <p:pic>
        <p:nvPicPr>
          <p:cNvPr id="6" name="Image 0" descr="D:/SBI/restart/insulin_1MSO_slide.png">    </p:cNvPr>
          <p:cNvPicPr>
            <a:picLocks noChangeAspect="1"/>
          </p:cNvPicPr>
          <p:nvPr/>
        </p:nvPicPr>
        <p:blipFill>
          <a:blip r:embed="rId1"/>
          <a:stretch>
            <a:fillRect/>
          </a:stretch>
        </p:blipFill>
        <p:spPr>
          <a:xfrm>
            <a:off x="4892040" y="1783080"/>
            <a:ext cx="6583680" cy="3831336"/>
          </a:xfrm>
          <a:prstGeom prst="rect">
            <a:avLst/>
          </a:prstGeom>
        </p:spPr>
      </p:pic>
      <p:sp>
        <p:nvSpPr>
          <p:cNvPr id="7" name="Text 4"/>
          <p:cNvSpPr/>
          <p:nvPr/>
        </p:nvSpPr>
        <p:spPr>
          <a:xfrm>
            <a:off x="4892040" y="5715000"/>
            <a:ext cx="65836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5. Insulin P(helix): BayesFlow (green) vs exact FB (black); gold = true helix.</a:t>
            </a:r>
            <a:endParaRPr lang="en-US" sz="1100" dirty="0"/>
          </a:p>
        </p:txBody>
      </p:sp>
      <p:sp>
        <p:nvSpPr>
          <p:cNvPr id="8" name="Text 5"/>
          <p:cNvSpPr/>
          <p:nvPr/>
        </p:nvSpPr>
        <p:spPr>
          <a:xfrm>
            <a:off x="457200" y="1828800"/>
            <a:ext cx="4297680" cy="4114800"/>
          </a:xfrm>
          <a:prstGeom prst="rect">
            <a:avLst/>
          </a:prstGeom>
          <a:noFill/>
          <a:ln/>
        </p:spPr>
        <p:txBody>
          <a:bodyPr wrap="square" rtlCol="0" anchor="t"/>
          <a:lstStyle/>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Insulin + true DSSP labels from the dataset; model trained ONLY on simulated data (unseen).</a:t>
            </a:r>
            <a:endParaRPr lang="en-US" sz="1350" dirty="0"/>
          </a:p>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B-chain helix is propensity-driven (L,V,E,A) → nailed, AUC 0.98.</a:t>
            </a:r>
            <a:endParaRPr lang="en-US" sz="1350" dirty="0"/>
          </a:p>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A-chain helix is disulfide-stabilised &amp; Cys-rich; C disfavours helix in our table → model predicts “not helix” → AUC 0.52 (chance).</a:t>
            </a:r>
            <a:endParaRPr lang="en-US" sz="1350" dirty="0"/>
          </a:p>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A sequence-only HMM cannot see 3-D disulfide bonds.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INSULIN &amp; REAL EVALUATION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All real proteins (PISCES)</a:t>
            </a:r>
            <a:endParaRPr lang="en-US" sz="2700" dirty="0"/>
          </a:p>
        </p:txBody>
      </p:sp>
      <p:pic>
        <p:nvPicPr>
          <p:cNvPr id="6" name="Image 0" descr="D:/SBI/restart/real_eval_auc_hist.png">    </p:cNvPr>
          <p:cNvPicPr>
            <a:picLocks noChangeAspect="1"/>
          </p:cNvPicPr>
          <p:nvPr/>
        </p:nvPicPr>
        <p:blipFill>
          <a:blip r:embed="rId1"/>
          <a:stretch>
            <a:fillRect/>
          </a:stretch>
        </p:blipFill>
        <p:spPr>
          <a:xfrm>
            <a:off x="5760720" y="1828800"/>
            <a:ext cx="5669280" cy="3648456"/>
          </a:xfrm>
          <a:prstGeom prst="rect">
            <a:avLst/>
          </a:prstGeom>
        </p:spPr>
      </p:pic>
      <p:sp>
        <p:nvSpPr>
          <p:cNvPr id="7" name="Text 4"/>
          <p:cNvSpPr/>
          <p:nvPr/>
        </p:nvSpPr>
        <p:spPr>
          <a:xfrm>
            <a:off x="5760720" y="5532120"/>
            <a:ext cx="5669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6. Per-chain AUC over 8,308 real chains (those with both classes).</a:t>
            </a:r>
            <a:endParaRPr lang="en-US" sz="1100" dirty="0"/>
          </a:p>
        </p:txBody>
      </p:sp>
      <p:sp>
        <p:nvSpPr>
          <p:cNvPr id="8" name="Text 5"/>
          <p:cNvSpPr/>
          <p:nvPr/>
        </p:nvSpPr>
        <p:spPr>
          <a:xfrm>
            <a:off x="457200" y="1874520"/>
            <a:ext cx="5029200" cy="3931920"/>
          </a:xfrm>
          <a:prstGeom prst="rect">
            <a:avLst/>
          </a:prstGeom>
          <a:noFill/>
          <a:ln/>
        </p:spPr>
        <p:txBody>
          <a:bodyPr wrap="square" rtlCol="0" anchor="t"/>
          <a:lstStyle/>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Scored all 8,994 standard-AA chains (2.2M residues).</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Per-chain AUC 0.754; BayesFlow = exact FB.</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A simple HMM ranks helices meaningfully across the messy real proteome.</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AUC &gt; accuracy: the HMM isn’t calibrated to reality → use ranking.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Result 1: the neural posterior reproduces exact inference</a:t>
            </a:r>
            <a:endParaRPr lang="en-US" sz="2700" dirty="0"/>
          </a:p>
        </p:txBody>
      </p:sp>
      <p:pic>
        <p:nvPicPr>
          <p:cNvPr id="6" name="Image 0" descr="D:/SBI/restart/validation_figure.png">    </p:cNvPr>
          <p:cNvPicPr>
            <a:picLocks noChangeAspect="1"/>
          </p:cNvPicPr>
          <p:nvPr/>
        </p:nvPicPr>
        <p:blipFill>
          <a:blip r:embed="rId1"/>
          <a:stretch>
            <a:fillRect/>
          </a:stretch>
        </p:blipFill>
        <p:spPr>
          <a:xfrm>
            <a:off x="1234440" y="1645920"/>
            <a:ext cx="9692640" cy="3730752"/>
          </a:xfrm>
          <a:prstGeom prst="rect">
            <a:avLst/>
          </a:prstGeom>
        </p:spPr>
      </p:pic>
      <p:sp>
        <p:nvSpPr>
          <p:cNvPr id="7" name="Text 4"/>
          <p:cNvSpPr/>
          <p:nvPr/>
        </p:nvSpPr>
        <p:spPr>
          <a:xfrm>
            <a:off x="1234440" y="5394960"/>
            <a:ext cx="96926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7. Left: BayesFlow mean vs exact FB (r=0.999). Right: an example chain with the ±1 std band.</a:t>
            </a:r>
            <a:endParaRPr lang="en-US" sz="1100" dirty="0"/>
          </a:p>
        </p:txBody>
      </p:sp>
      <p:sp>
        <p:nvSpPr>
          <p:cNvPr id="8" name="Text 5"/>
          <p:cNvSpPr/>
          <p:nvPr/>
        </p:nvSpPr>
        <p:spPr>
          <a:xfrm>
            <a:off x="640080" y="5943600"/>
            <a:ext cx="10972800" cy="640080"/>
          </a:xfrm>
          <a:prstGeom prst="rect">
            <a:avLst/>
          </a:prstGeom>
          <a:noFill/>
          <a:ln/>
        </p:spPr>
        <p:txBody>
          <a:bodyPr wrap="square" lIns="0" tIns="0" rIns="0" bIns="0" rtlCol="0" anchor="ctr"/>
          <a:lstStyle/>
          <a:p>
            <a:pPr algn="ctr" indent="0" marL="0">
              <a:buNone/>
            </a:pPr>
            <a:r>
              <a:rPr lang="en-US" sz="1400" b="1" dirty="0">
                <a:solidFill>
                  <a:srgbClr val="0F6E56"/>
                </a:solidFill>
                <a:latin typeface="Calibri" pitchFamily="34" charset="0"/>
                <a:ea typeface="Calibri" pitchFamily="34" charset="-122"/>
                <a:cs typeface="Calibri" pitchFamily="34" charset="-120"/>
              </a:rPr>
              <a:t>Held-out simulated chains: correlation 0.999, MAE 0.007.  </a:t>
            </a:r>
            <a:pPr algn="ctr" indent="0" marL="0">
              <a:buNone/>
            </a:pPr>
            <a:r>
              <a:rPr lang="en-US" sz="1400" dirty="0">
                <a:solidFill>
                  <a:srgbClr val="1A2E29"/>
                </a:solidFill>
                <a:latin typeface="Calibri" pitchFamily="34" charset="0"/>
                <a:ea typeface="Calibri" pitchFamily="34" charset="-122"/>
                <a:cs typeface="Calibri" pitchFamily="34" charset="-120"/>
              </a:rPr>
              <a:t>The fast neural posterior is interchangeable with slow HMM Forward–Backward.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SBI diagnostics: convergence, calibration, contraction</a:t>
            </a:r>
            <a:endParaRPr lang="en-US" sz="2700" dirty="0"/>
          </a:p>
        </p:txBody>
      </p:sp>
      <p:pic>
        <p:nvPicPr>
          <p:cNvPr id="6" name="Image 0" descr="D:/SBI/restart/diag_loss.png">    </p:cNvPr>
          <p:cNvPicPr>
            <a:picLocks noChangeAspect="1"/>
          </p:cNvPicPr>
          <p:nvPr/>
        </p:nvPicPr>
        <p:blipFill>
          <a:blip r:embed="rId1"/>
          <a:stretch>
            <a:fillRect/>
          </a:stretch>
        </p:blipFill>
        <p:spPr>
          <a:xfrm>
            <a:off x="502920" y="1828800"/>
            <a:ext cx="3977640" cy="2386584"/>
          </a:xfrm>
          <a:prstGeom prst="rect">
            <a:avLst/>
          </a:prstGeom>
        </p:spPr>
      </p:pic>
      <p:sp>
        <p:nvSpPr>
          <p:cNvPr id="7" name="Text 4"/>
          <p:cNvSpPr/>
          <p:nvPr/>
        </p:nvSpPr>
        <p:spPr>
          <a:xfrm>
            <a:off x="502920" y="4206240"/>
            <a:ext cx="39776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8a. Training loss.</a:t>
            </a:r>
            <a:endParaRPr lang="en-US" sz="1100" dirty="0"/>
          </a:p>
        </p:txBody>
      </p:sp>
      <p:pic>
        <p:nvPicPr>
          <p:cNvPr id="8" name="Image 1" descr="D:/SBI/restart/diag_sbc_ecdf.png">    </p:cNvPr>
          <p:cNvPicPr>
            <a:picLocks noChangeAspect="1"/>
          </p:cNvPicPr>
          <p:nvPr/>
        </p:nvPicPr>
        <p:blipFill>
          <a:blip r:embed="rId2"/>
          <a:stretch>
            <a:fillRect/>
          </a:stretch>
        </p:blipFill>
        <p:spPr>
          <a:xfrm>
            <a:off x="4800600" y="1874520"/>
            <a:ext cx="6812280" cy="2231136"/>
          </a:xfrm>
          <a:prstGeom prst="rect">
            <a:avLst/>
          </a:prstGeom>
        </p:spPr>
      </p:pic>
      <p:sp>
        <p:nvSpPr>
          <p:cNvPr id="9" name="Text 5"/>
          <p:cNvSpPr/>
          <p:nvPr/>
        </p:nvSpPr>
        <p:spPr>
          <a:xfrm>
            <a:off x="4800600" y="4160520"/>
            <a:ext cx="6812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8b. Simulation-based calibration (SBC) rank ECDF, per target dim.</a:t>
            </a:r>
            <a:endParaRPr lang="en-US" sz="1100" dirty="0"/>
          </a:p>
        </p:txBody>
      </p:sp>
      <p:sp>
        <p:nvSpPr>
          <p:cNvPr id="10" name="Text 6"/>
          <p:cNvSpPr/>
          <p:nvPr/>
        </p:nvSpPr>
        <p:spPr>
          <a:xfrm>
            <a:off x="502920" y="4617720"/>
            <a:ext cx="11155680" cy="2011680"/>
          </a:xfrm>
          <a:prstGeom prst="rect">
            <a:avLst/>
          </a:prstGeom>
          <a:noFill/>
          <a:ln/>
        </p:spPr>
        <p:txBody>
          <a:bodyPr wrap="square" rtlCol="0" anchor="t"/>
          <a:lstStyle/>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Convergence: loss −3.8 → −7.9, plateaued.  Recovery r = 0.999 and posterior contraction 0.999 — the estimate is excellent and tight.</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SBC (right): the rank ECDF slightly exits the 95% band → a small location bias (~0.15 posterior SD ≈ 0.002 in probability). The uncertainty band is not perfectly calibrated.</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Honest limitation: point estimates are unaffected; likely cause is the near-degenerate 3-D target (dim-correlations 0.89–0.96) vs a coupling flow. Candidate fix left as future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Results at a glance</a:t>
            </a:r>
            <a:endParaRPr lang="en-US" sz="2700" dirty="0"/>
          </a:p>
        </p:txBody>
      </p:sp>
      <p:pic>
        <p:nvPicPr>
          <p:cNvPr id="6" name="Image 0" descr="D:/SBI/restart/comparison_table.png">    </p:cNvPr>
          <p:cNvPicPr>
            <a:picLocks noChangeAspect="1"/>
          </p:cNvPicPr>
          <p:nvPr/>
        </p:nvPicPr>
        <p:blipFill>
          <a:blip r:embed="rId1"/>
          <a:stretch>
            <a:fillRect/>
          </a:stretch>
        </p:blipFill>
        <p:spPr>
          <a:xfrm>
            <a:off x="960120" y="1783080"/>
            <a:ext cx="10241280" cy="2560320"/>
          </a:xfrm>
          <a:prstGeom prst="rect">
            <a:avLst/>
          </a:prstGeom>
        </p:spPr>
      </p:pic>
      <p:sp>
        <p:nvSpPr>
          <p:cNvPr id="7" name="Text 4"/>
          <p:cNvSpPr/>
          <p:nvPr/>
        </p:nvSpPr>
        <p:spPr>
          <a:xfrm>
            <a:off x="960120" y="4434840"/>
            <a:ext cx="10241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Table 1. AUC &amp; accuracy@0.5 vs the majority-class baseline — BayesFlow vs exact FB.</a:t>
            </a:r>
            <a:endParaRPr lang="en-US" sz="1100" dirty="0"/>
          </a:p>
        </p:txBody>
      </p:sp>
      <p:sp>
        <p:nvSpPr>
          <p:cNvPr id="8" name="Text 5"/>
          <p:cNvSpPr/>
          <p:nvPr/>
        </p:nvSpPr>
        <p:spPr>
          <a:xfrm>
            <a:off x="1005840" y="4846320"/>
            <a:ext cx="10149840" cy="1737360"/>
          </a:xfrm>
          <a:prstGeom prst="rect">
            <a:avLst/>
          </a:prstGeom>
          <a:noFill/>
          <a:ln/>
        </p:spPr>
        <p:txBody>
          <a:bodyPr wrap="square" rtlCol="0" anchor="t"/>
          <a:lstStyle/>
          <a:p>
            <a:pPr marL="177800" indent="-177800">
              <a:spcAft>
                <a:spcPts val="800"/>
              </a:spcAft>
              <a:buSzPct val="100000"/>
              <a:buChar char="•"/>
            </a:pPr>
            <a:r>
              <a:rPr lang="en-US" sz="1300" dirty="0">
                <a:solidFill>
                  <a:srgbClr val="1A2E29"/>
                </a:solidFill>
                <a:latin typeface="Calibri" pitchFamily="34" charset="0"/>
                <a:ea typeface="Calibri" pitchFamily="34" charset="-122"/>
                <a:cs typeface="Calibri" pitchFamily="34" charset="-120"/>
              </a:rPr>
              <a:t>BayesFlow ≈ exact FB in every setting — faithful amortization.</a:t>
            </a:r>
            <a:endParaRPr lang="en-US" sz="1300" dirty="0"/>
          </a:p>
          <a:p>
            <a:pPr marL="177800" indent="-177800">
              <a:spcAft>
                <a:spcPts val="800"/>
              </a:spcAft>
              <a:buSzPct val="100000"/>
              <a:buChar char="•"/>
            </a:pPr>
            <a:r>
              <a:rPr lang="en-US" sz="1300" dirty="0">
                <a:solidFill>
                  <a:srgbClr val="1A2E29"/>
                </a:solidFill>
                <a:latin typeface="Calibri" pitchFamily="34" charset="0"/>
                <a:ea typeface="Calibri" pitchFamily="34" charset="-122"/>
                <a:cs typeface="Calibri" pitchFamily="34" charset="-120"/>
              </a:rPr>
              <a:t>Accuracy@0.5 only beats the trivial baseline on the calibrated (simulated / pooled real) settings; on insulin it ties or falls below it → AUC is the fair metric.</a:t>
            </a:r>
            <a:endParaRPr lang="en-US" sz="1300" dirty="0"/>
          </a:p>
          <a:p>
            <a:pPr marL="177800" indent="-177800">
              <a:spcAft>
                <a:spcPts val="800"/>
              </a:spcAft>
              <a:buSzPct val="100000"/>
              <a:buChar char="•"/>
            </a:pPr>
            <a:r>
              <a:rPr lang="en-US" sz="1300" dirty="0">
                <a:solidFill>
                  <a:srgbClr val="1A2E29"/>
                </a:solidFill>
                <a:latin typeface="Calibri" pitchFamily="34" charset="0"/>
                <a:ea typeface="Calibri" pitchFamily="34" charset="-122"/>
                <a:cs typeface="Calibri" pitchFamily="34" charset="-120"/>
              </a:rPr>
              <a:t>FB is a ceiling on SIMULATED data only; on real proteins the HMM is misspecified, so a better model can beat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3B2E"/>
        </a:solidFill>
      </p:bgPr>
    </p:bg>
    <p:spTree>
      <p:nvGrpSpPr>
        <p:cNvPr id="1" name=""/>
        <p:cNvGrpSpPr/>
        <p:nvPr/>
      </p:nvGrpSpPr>
      <p:grpSpPr>
        <a:xfrm>
          <a:off x="0" y="0"/>
          <a:ext cx="0" cy="0"/>
          <a:chOff x="0" y="0"/>
          <a:chExt cx="0" cy="0"/>
        </a:xfrm>
      </p:grpSpPr>
      <p:sp>
        <p:nvSpPr>
          <p:cNvPr id="2" name="Text 0"/>
          <p:cNvSpPr/>
          <p:nvPr/>
        </p:nvSpPr>
        <p:spPr>
          <a:xfrm>
            <a:off x="8595360" y="182880"/>
            <a:ext cx="3657600" cy="6400800"/>
          </a:xfrm>
          <a:prstGeom prst="rect">
            <a:avLst/>
          </a:prstGeom>
          <a:noFill/>
          <a:ln/>
        </p:spPr>
        <p:txBody>
          <a:bodyPr wrap="square" lIns="0" tIns="0" rIns="0" bIns="0" rtlCol="0" anchor="ctr"/>
          <a:lstStyle/>
          <a:p>
            <a:pPr algn="ctr" indent="0" marL="0">
              <a:buNone/>
            </a:pPr>
            <a:r>
              <a:rPr lang="en-US" sz="34000" b="1" dirty="0">
                <a:solidFill>
                  <a:srgbClr val="13463A"/>
                </a:solidFill>
                <a:latin typeface="Cambria" pitchFamily="34" charset="0"/>
                <a:ea typeface="Cambria" pitchFamily="34" charset="-122"/>
                <a:cs typeface="Cambria" pitchFamily="34" charset="-120"/>
              </a:rPr>
              <a:t>α</a:t>
            </a:r>
            <a:endParaRPr lang="en-US" sz="34000" dirty="0"/>
          </a:p>
        </p:txBody>
      </p:sp>
      <p:sp>
        <p:nvSpPr>
          <p:cNvPr id="3" name="Text 1"/>
          <p:cNvSpPr/>
          <p:nvPr/>
        </p:nvSpPr>
        <p:spPr>
          <a:xfrm>
            <a:off x="640080" y="640080"/>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TL;DR — take-home message</a:t>
            </a:r>
            <a:endParaRPr lang="en-US" sz="3000" dirty="0"/>
          </a:p>
        </p:txBody>
      </p:sp>
      <p:sp>
        <p:nvSpPr>
          <p:cNvPr id="4" name="Text 2"/>
          <p:cNvSpPr/>
          <p:nvPr/>
        </p:nvSpPr>
        <p:spPr>
          <a:xfrm>
            <a:off x="685800" y="1554480"/>
            <a:ext cx="10607040" cy="3383280"/>
          </a:xfrm>
          <a:prstGeom prst="rect">
            <a:avLst/>
          </a:prstGeom>
          <a:noFill/>
          <a:ln/>
        </p:spPr>
        <p:txBody>
          <a:bodyPr wrap="square" rtlCol="0" anchor="t"/>
          <a:lstStyle/>
          <a:p>
            <a:pPr marL="177800" indent="-177800">
              <a:spcAft>
                <a:spcPts val="1100"/>
              </a:spcAft>
              <a:buSzPct val="100000"/>
              <a:buChar char="•"/>
            </a:pPr>
            <a:r>
              <a:rPr lang="en-US" sz="1600" dirty="0">
                <a:solidFill>
                  <a:srgbClr val="FFFFFF"/>
                </a:solidFill>
                <a:latin typeface="Calibri" pitchFamily="34" charset="0"/>
                <a:ea typeface="Calibri" pitchFamily="34" charset="-122"/>
                <a:cs typeface="Calibri" pitchFamily="34" charset="-120"/>
              </a:rPr>
              <a:t>α-helix as a 2-state HMM whose transition AND emission tables match real proteins (r ≈ 0.99).</a:t>
            </a:r>
            <a:endParaRPr lang="en-US" sz="1600" dirty="0"/>
          </a:p>
          <a:p>
            <a:pPr marL="177800" indent="-177800">
              <a:spcAft>
                <a:spcPts val="1100"/>
              </a:spcAft>
              <a:buSzPct val="100000"/>
              <a:buChar char="•"/>
            </a:pPr>
            <a:r>
              <a:rPr lang="en-US" sz="1600" dirty="0">
                <a:solidFill>
                  <a:srgbClr val="FFFFFF"/>
                </a:solidFill>
                <a:latin typeface="Calibri" pitchFamily="34" charset="0"/>
                <a:ea typeface="Calibri" pitchFamily="34" charset="-122"/>
                <a:cs typeface="Calibri" pitchFamily="34" charset="-120"/>
              </a:rPr>
              <a:t>BayesFlow amortized posterior trained on exact Forward–Backward targets via a sliding 31-residue window; it reproduces exact FB almost perfectly (r = 0.999).</a:t>
            </a:r>
            <a:endParaRPr lang="en-US" sz="1600" dirty="0"/>
          </a:p>
          <a:p>
            <a:pPr marL="177800" indent="-177800">
              <a:spcAft>
                <a:spcPts val="1100"/>
              </a:spcAft>
              <a:buSzPct val="100000"/>
              <a:buChar char="•"/>
            </a:pPr>
            <a:r>
              <a:rPr lang="en-US" sz="1600" dirty="0">
                <a:solidFill>
                  <a:srgbClr val="FFFFFF"/>
                </a:solidFill>
                <a:latin typeface="Calibri" pitchFamily="34" charset="0"/>
                <a:ea typeface="Calibri" pitchFamily="34" charset="-122"/>
                <a:cs typeface="Calibri" pitchFamily="34" charset="-120"/>
              </a:rPr>
              <a:t>Diagnostics: excellent recovery &amp; contraction, but SBC reveals a small (~0.15 SD) calibration bias — a real, owned limitation.</a:t>
            </a:r>
            <a:endParaRPr lang="en-US" sz="1600" dirty="0"/>
          </a:p>
          <a:p>
            <a:pPr marL="177800" indent="-177800">
              <a:buSzPct val="100000"/>
              <a:buChar char="•"/>
            </a:pPr>
            <a:r>
              <a:rPr lang="en-US" sz="1600" dirty="0">
                <a:solidFill>
                  <a:srgbClr val="FFFFFF"/>
                </a:solidFill>
                <a:latin typeface="Calibri" pitchFamily="34" charset="0"/>
                <a:ea typeface="Calibri" pitchFamily="34" charset="-122"/>
                <a:cs typeface="Calibri" pitchFamily="34" charset="-120"/>
              </a:rPr>
              <a:t>On unseen real proteins it ranks propensity-driven helices well (insulin B-chain 0.98; PISCES 0.75) but fails where structure is 3-D-stabilised (insulin A-chain 0.52) — the price of a sequence-only model.</a:t>
            </a:r>
            <a:endParaRPr lang="en-US" sz="1600" dirty="0"/>
          </a:p>
        </p:txBody>
      </p:sp>
      <p:sp>
        <p:nvSpPr>
          <p:cNvPr id="5" name="Shape 3"/>
          <p:cNvSpPr/>
          <p:nvPr/>
        </p:nvSpPr>
        <p:spPr>
          <a:xfrm>
            <a:off x="731520" y="5074920"/>
            <a:ext cx="2926080" cy="0"/>
          </a:xfrm>
          <a:prstGeom prst="line">
            <a:avLst/>
          </a:prstGeom>
          <a:noFill/>
          <a:ln w="25400">
            <a:solidFill>
              <a:srgbClr val="1D9E75"/>
            </a:solidFill>
            <a:prstDash val="solid"/>
          </a:ln>
        </p:spPr>
      </p:sp>
      <p:sp>
        <p:nvSpPr>
          <p:cNvPr id="6" name="Text 4"/>
          <p:cNvSpPr/>
          <p:nvPr/>
        </p:nvSpPr>
        <p:spPr>
          <a:xfrm>
            <a:off x="731520" y="5257800"/>
            <a:ext cx="10515600" cy="914400"/>
          </a:xfrm>
          <a:prstGeom prst="rect">
            <a:avLst/>
          </a:prstGeom>
          <a:noFill/>
          <a:ln/>
        </p:spPr>
        <p:txBody>
          <a:bodyPr wrap="square" lIns="0" tIns="0" rIns="0" bIns="0" rtlCol="0" anchor="ctr"/>
          <a:lstStyle/>
          <a:p>
            <a:pPr indent="0" marL="0">
              <a:buNone/>
            </a:pPr>
            <a:r>
              <a:rPr lang="en-US" sz="1500" b="1" dirty="0">
                <a:solidFill>
                  <a:srgbClr val="8FE3C6"/>
                </a:solidFill>
                <a:latin typeface="Calibri" pitchFamily="34" charset="0"/>
                <a:ea typeface="Calibri" pitchFamily="34" charset="-122"/>
                <a:cs typeface="Calibri" pitchFamily="34" charset="-120"/>
              </a:rPr>
              <a:t>Group [ number ]  ·  [ Member names ]
</a:t>
            </a:r>
            <a:endParaRPr lang="en-US" sz="1500" dirty="0"/>
          </a:p>
          <a:p>
            <a:pPr indent="0" marL="0">
              <a:buNone/>
            </a:pPr>
            <a:r>
              <a:rPr lang="en-US" sz="1300" dirty="0">
                <a:solidFill>
                  <a:srgbClr val="FFFFFF"/>
                </a:solidFill>
                <a:latin typeface="Calibri" pitchFamily="34" charset="0"/>
                <a:ea typeface="Calibri" pitchFamily="34" charset="-122"/>
                <a:cs typeface="Calibri" pitchFamily="34" charset="-120"/>
              </a:rPr>
              <a:t>[ email ]@tu-dortmund.de   ·   Simulation-Based Inference, TU Dortmund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alpha-helix secondary structure with a two-state HMM and BayesFlow</dc:title>
  <dc:subject>PptxGenJS Presentation</dc:subject>
  <dc:creator>SBI project</dc:creator>
  <cp:lastModifiedBy>SBI project</cp:lastModifiedBy>
  <cp:revision>1</cp:revision>
  <dcterms:created xsi:type="dcterms:W3CDTF">2026-07-15T05:33:45Z</dcterms:created>
  <dcterms:modified xsi:type="dcterms:W3CDTF">2026-07-15T05:33:45Z</dcterms:modified>
</cp:coreProperties>
</file>